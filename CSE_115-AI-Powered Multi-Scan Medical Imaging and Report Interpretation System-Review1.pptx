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68" r:id="rId2"/>
    <p:sldId id="269" r:id="rId3"/>
    <p:sldId id="257" r:id="rId4"/>
    <p:sldId id="259" r:id="rId5"/>
    <p:sldId id="261" r:id="rId6"/>
    <p:sldId id="260" r:id="rId7"/>
    <p:sldId id="262" r:id="rId8"/>
    <p:sldId id="264" r:id="rId9"/>
    <p:sldId id="270" r:id="rId10"/>
    <p:sldId id="266" r:id="rId11"/>
    <p:sldId id="271" r:id="rId12"/>
    <p:sldId id="267" r:id="rId1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84"/>
    <p:restoredTop sz="94716"/>
  </p:normalViewPr>
  <p:slideViewPr>
    <p:cSldViewPr snapToGrid="0">
      <p:cViewPr varScale="1">
        <p:scale>
          <a:sx n="117" d="100"/>
          <a:sy n="117" d="100"/>
        </p:scale>
        <p:origin x="192"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5" name="Shape 135"/>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6" name="Shape 13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4537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6105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864311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spTree>
      <p:nvGrpSpPr>
        <p:cNvPr id="1" name=""/>
        <p:cNvGrpSpPr/>
        <p:nvPr/>
      </p:nvGrpSpPr>
      <p:grpSpPr>
        <a:xfrm>
          <a:off x="0" y="0"/>
          <a:ext cx="0" cy="0"/>
          <a:chOff x="0" y="0"/>
          <a:chExt cx="0" cy="0"/>
        </a:xfrm>
      </p:grpSpPr>
      <p:sp>
        <p:nvSpPr>
          <p:cNvPr id="13"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14"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5" name="Title Text"/>
          <p:cNvSpPr txBox="1">
            <a:spLocks noGrp="1"/>
          </p:cNvSpPr>
          <p:nvPr>
            <p:ph type="title"/>
          </p:nvPr>
        </p:nvSpPr>
        <p:spPr>
          <a:xfrm>
            <a:off x="1050877" y="1322386"/>
            <a:ext cx="10363201" cy="1470001"/>
          </a:xfrm>
          <a:prstGeom prst="rect">
            <a:avLst/>
          </a:prstGeom>
        </p:spPr>
        <p:txBody>
          <a:bodyPr/>
          <a:lstStyle/>
          <a:p>
            <a:r>
              <a:t>Title Text</a:t>
            </a:r>
          </a:p>
        </p:txBody>
      </p:sp>
      <p:sp>
        <p:nvSpPr>
          <p:cNvPr id="16" name="Body Level One…"/>
          <p:cNvSpPr txBox="1">
            <a:spLocks noGrp="1"/>
          </p:cNvSpPr>
          <p:nvPr>
            <p:ph type="body" sz="quarter" idx="1"/>
          </p:nvPr>
        </p:nvSpPr>
        <p:spPr>
          <a:xfrm>
            <a:off x="2032000" y="3326641"/>
            <a:ext cx="8534400" cy="1752601"/>
          </a:xfrm>
          <a:prstGeom prst="rect">
            <a:avLst/>
          </a:prstGeom>
        </p:spPr>
        <p:txBody>
          <a:bodyPr/>
          <a:lstStyle>
            <a:lvl1pPr marL="381000" indent="-304800" algn="ctr">
              <a:buClrTx/>
              <a:buSzTx/>
              <a:buFontTx/>
              <a:buNone/>
              <a:defRPr sz="2000" b="1">
                <a:solidFill>
                  <a:srgbClr val="17365D"/>
                </a:solidFill>
              </a:defRPr>
            </a:lvl1pPr>
            <a:lvl2pPr marL="381000" indent="177800" algn="ctr">
              <a:buClrTx/>
              <a:buSzTx/>
              <a:buFontTx/>
              <a:buNone/>
              <a:defRPr sz="2000" b="1">
                <a:solidFill>
                  <a:srgbClr val="17365D"/>
                </a:solidFill>
              </a:defRPr>
            </a:lvl2pPr>
            <a:lvl3pPr marL="381000" indent="647700" algn="ctr">
              <a:buClrTx/>
              <a:buSzTx/>
              <a:buFontTx/>
              <a:buNone/>
              <a:defRPr sz="2000" b="1">
                <a:solidFill>
                  <a:srgbClr val="17365D"/>
                </a:solidFill>
              </a:defRPr>
            </a:lvl3pPr>
            <a:lvl4pPr marL="381000" indent="1117600" algn="ctr">
              <a:buClrTx/>
              <a:buSzTx/>
              <a:buFontTx/>
              <a:buNone/>
              <a:defRPr sz="2000" b="1">
                <a:solidFill>
                  <a:srgbClr val="17365D"/>
                </a:solidFill>
              </a:defRPr>
            </a:lvl4pPr>
            <a:lvl5pPr marL="381000" indent="1574800" algn="ctr">
              <a:buClrTx/>
              <a:buSzTx/>
              <a:buFontTx/>
              <a:buNone/>
              <a:defRPr sz="2000" b="1">
                <a:solidFill>
                  <a:srgbClr val="17365D"/>
                </a:solidFill>
              </a:defRPr>
            </a:lvl5pPr>
          </a:lstStyle>
          <a:p>
            <a:r>
              <a:t>Body Level One</a:t>
            </a:r>
          </a:p>
          <a:p>
            <a:pPr lvl="1"/>
            <a:r>
              <a:t>Body Level Two</a:t>
            </a:r>
          </a:p>
          <a:p>
            <a:pPr lvl="2"/>
            <a:r>
              <a:t>Body Level Three</a:t>
            </a:r>
          </a:p>
          <a:p>
            <a:pPr lvl="3"/>
            <a:r>
              <a:t>Body Level Four</a:t>
            </a:r>
          </a:p>
          <a:p>
            <a:pPr lvl="4"/>
            <a:r>
              <a:t>Body Level Five</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34"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35" name="Title Text"/>
          <p:cNvSpPr txBox="1">
            <a:spLocks noGrp="1"/>
          </p:cNvSpPr>
          <p:nvPr>
            <p:ph type="title"/>
          </p:nvPr>
        </p:nvSpPr>
        <p:spPr>
          <a:xfrm>
            <a:off x="963084" y="4406903"/>
            <a:ext cx="10363201" cy="1362001"/>
          </a:xfrm>
          <a:prstGeom prst="rect">
            <a:avLst/>
          </a:prstGeom>
        </p:spPr>
        <p:txBody>
          <a:bodyPr anchor="t"/>
          <a:lstStyle>
            <a:lvl1pPr>
              <a:defRPr sz="4000">
                <a:solidFill>
                  <a:srgbClr val="FF0000"/>
                </a:solidFill>
              </a:defRPr>
            </a:lvl1pPr>
          </a:lstStyle>
          <a:p>
            <a:r>
              <a:t>Title Text</a:t>
            </a:r>
          </a:p>
        </p:txBody>
      </p:sp>
      <p:sp>
        <p:nvSpPr>
          <p:cNvPr id="36" name="Body Level One…"/>
          <p:cNvSpPr txBox="1">
            <a:spLocks noGrp="1"/>
          </p:cNvSpPr>
          <p:nvPr>
            <p:ph type="body" sz="quarter" idx="1"/>
          </p:nvPr>
        </p:nvSpPr>
        <p:spPr>
          <a:xfrm>
            <a:off x="963084" y="2906713"/>
            <a:ext cx="10363201" cy="1500301"/>
          </a:xfrm>
          <a:prstGeom prst="rect">
            <a:avLst/>
          </a:prstGeom>
        </p:spPr>
        <p:txBody>
          <a:bodyPr anchor="b"/>
          <a:lstStyle>
            <a:lvl1pPr marL="228600" indent="0">
              <a:buClrTx/>
              <a:buSzTx/>
              <a:buFontTx/>
              <a:buNone/>
              <a:defRPr sz="2000">
                <a:solidFill>
                  <a:srgbClr val="888888"/>
                </a:solidFill>
              </a:defRPr>
            </a:lvl1pPr>
            <a:lvl2pPr marL="228600" indent="457200">
              <a:buClrTx/>
              <a:buSzTx/>
              <a:buFontTx/>
              <a:buNone/>
              <a:defRPr sz="2000">
                <a:solidFill>
                  <a:srgbClr val="888888"/>
                </a:solidFill>
              </a:defRPr>
            </a:lvl2pPr>
            <a:lvl3pPr marL="228600" indent="914400">
              <a:buClrTx/>
              <a:buSzTx/>
              <a:buFontTx/>
              <a:buNone/>
              <a:defRPr sz="2000">
                <a:solidFill>
                  <a:srgbClr val="888888"/>
                </a:solidFill>
              </a:defRPr>
            </a:lvl3pPr>
            <a:lvl4pPr marL="228600" indent="1371600">
              <a:buClrTx/>
              <a:buSzTx/>
              <a:buFontTx/>
              <a:buNone/>
              <a:defRPr sz="2000">
                <a:solidFill>
                  <a:srgbClr val="888888"/>
                </a:solidFill>
              </a:defRPr>
            </a:lvl4pPr>
            <a:lvl5pPr marL="228600" indent="1828800">
              <a:buClrTx/>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45"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46" name="Title Text"/>
          <p:cNvSpPr txBox="1">
            <a:spLocks noGrp="1"/>
          </p:cNvSpPr>
          <p:nvPr>
            <p:ph type="title"/>
          </p:nvPr>
        </p:nvSpPr>
        <p:spPr>
          <a:prstGeom prst="rect">
            <a:avLst/>
          </a:prstGeom>
        </p:spPr>
        <p:txBody>
          <a:bodyPr/>
          <a:lstStyle>
            <a:lvl1pPr>
              <a:defRPr>
                <a:solidFill>
                  <a:srgbClr val="FF0000"/>
                </a:solidFill>
              </a:defRPr>
            </a:lvl1pPr>
          </a:lstStyle>
          <a:p>
            <a:r>
              <a:t>Title Text</a:t>
            </a:r>
          </a:p>
        </p:txBody>
      </p:sp>
      <p:sp>
        <p:nvSpPr>
          <p:cNvPr id="47" name="Body Level One…"/>
          <p:cNvSpPr txBox="1">
            <a:spLocks noGrp="1"/>
          </p:cNvSpPr>
          <p:nvPr>
            <p:ph type="body" sz="half" idx="1"/>
          </p:nvPr>
        </p:nvSpPr>
        <p:spPr>
          <a:xfrm>
            <a:off x="609600" y="1600203"/>
            <a:ext cx="5384701"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48" name="Google Shape;34;p5"/>
          <p:cNvSpPr txBox="1">
            <a:spLocks noGrp="1"/>
          </p:cNvSpPr>
          <p:nvPr>
            <p:ph type="body" sz="half" idx="21"/>
          </p:nvPr>
        </p:nvSpPr>
        <p:spPr>
          <a:xfrm>
            <a:off x="6197600" y="1600203"/>
            <a:ext cx="5384701" cy="4526101"/>
          </a:xfrm>
          <a:prstGeom prst="rect">
            <a:avLst/>
          </a:prstGeom>
        </p:spPr>
        <p:txBody>
          <a:bodyPr/>
          <a:lstStyle/>
          <a:p>
            <a:pPr indent="-406400">
              <a:spcBef>
                <a:spcPts val="500"/>
              </a:spcBef>
              <a:buSzPts val="2800"/>
              <a:defRPr sz="2800"/>
            </a:pPr>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57"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58" name="Title Text"/>
          <p:cNvSpPr txBox="1">
            <a:spLocks noGrp="1"/>
          </p:cNvSpPr>
          <p:nvPr>
            <p:ph type="title"/>
          </p:nvPr>
        </p:nvSpPr>
        <p:spPr>
          <a:xfrm>
            <a:off x="859367" y="304800"/>
            <a:ext cx="10668001" cy="487500"/>
          </a:xfrm>
          <a:prstGeom prst="rect">
            <a:avLst/>
          </a:prstGeom>
        </p:spPr>
        <p:txBody>
          <a:bodyPr/>
          <a:lstStyle>
            <a:lvl1pPr>
              <a:defRPr>
                <a:solidFill>
                  <a:srgbClr val="FF0000"/>
                </a:solidFill>
              </a:defRPr>
            </a:lvl1pPr>
          </a:lstStyle>
          <a:p>
            <a:r>
              <a:t>Title Text</a:t>
            </a:r>
          </a:p>
        </p:txBody>
      </p:sp>
      <p:sp>
        <p:nvSpPr>
          <p:cNvPr id="59" name="Body Level One…"/>
          <p:cNvSpPr txBox="1">
            <a:spLocks noGrp="1"/>
          </p:cNvSpPr>
          <p:nvPr>
            <p:ph type="body" sz="quarter" idx="1"/>
          </p:nvPr>
        </p:nvSpPr>
        <p:spPr>
          <a:xfrm>
            <a:off x="609600" y="1535112"/>
            <a:ext cx="5386800" cy="639901"/>
          </a:xfrm>
          <a:prstGeom prst="rect">
            <a:avLst/>
          </a:prstGeom>
        </p:spPr>
        <p:txBody>
          <a:bodyPr anchor="b"/>
          <a:lstStyle>
            <a:lvl1pPr marL="228600" indent="0">
              <a:buClrTx/>
              <a:buSzTx/>
              <a:buFontTx/>
              <a:buNone/>
              <a:defRPr b="1"/>
            </a:lvl1pPr>
            <a:lvl2pPr marL="228600" indent="457200">
              <a:buClrTx/>
              <a:buSzTx/>
              <a:buFontTx/>
              <a:buNone/>
              <a:defRPr b="1"/>
            </a:lvl2pPr>
            <a:lvl3pPr marL="228600" indent="914400">
              <a:buClrTx/>
              <a:buSzTx/>
              <a:buFontTx/>
              <a:buNone/>
              <a:defRPr b="1"/>
            </a:lvl3pPr>
            <a:lvl4pPr marL="228600" indent="1371600">
              <a:buClrTx/>
              <a:buSzTx/>
              <a:buFontTx/>
              <a:buNone/>
              <a:defRPr b="1"/>
            </a:lvl4pPr>
            <a:lvl5pPr marL="228600" indent="1828800">
              <a:buClrTx/>
              <a:buSzTx/>
              <a:buFontTx/>
              <a:buNone/>
              <a:defRPr b="1"/>
            </a:lvl5pPr>
          </a:lstStyle>
          <a:p>
            <a:r>
              <a:t>Body Level One</a:t>
            </a:r>
          </a:p>
          <a:p>
            <a:pPr lvl="1"/>
            <a:r>
              <a:t>Body Level Two</a:t>
            </a:r>
          </a:p>
          <a:p>
            <a:pPr lvl="2"/>
            <a:r>
              <a:t>Body Level Three</a:t>
            </a:r>
          </a:p>
          <a:p>
            <a:pPr lvl="3"/>
            <a:r>
              <a:t>Body Level Four</a:t>
            </a:r>
          </a:p>
          <a:p>
            <a:pPr lvl="4"/>
            <a:r>
              <a:t>Body Level Five</a:t>
            </a:r>
          </a:p>
        </p:txBody>
      </p:sp>
      <p:sp>
        <p:nvSpPr>
          <p:cNvPr id="60" name="Google Shape;41;p6"/>
          <p:cNvSpPr txBox="1">
            <a:spLocks noGrp="1"/>
          </p:cNvSpPr>
          <p:nvPr>
            <p:ph type="body" sz="half" idx="21"/>
          </p:nvPr>
        </p:nvSpPr>
        <p:spPr>
          <a:xfrm>
            <a:off x="609599" y="2174875"/>
            <a:ext cx="5386802" cy="3951300"/>
          </a:xfrm>
          <a:prstGeom prst="rect">
            <a:avLst/>
          </a:prstGeom>
        </p:spPr>
        <p:txBody>
          <a:bodyPr/>
          <a:lstStyle/>
          <a:p>
            <a:endParaRPr/>
          </a:p>
        </p:txBody>
      </p:sp>
      <p:sp>
        <p:nvSpPr>
          <p:cNvPr id="61" name="Google Shape;42;p6"/>
          <p:cNvSpPr txBox="1">
            <a:spLocks noGrp="1"/>
          </p:cNvSpPr>
          <p:nvPr>
            <p:ph type="body" sz="quarter" idx="22"/>
          </p:nvPr>
        </p:nvSpPr>
        <p:spPr>
          <a:xfrm>
            <a:off x="6193368" y="1535112"/>
            <a:ext cx="5388902" cy="639901"/>
          </a:xfrm>
          <a:prstGeom prst="rect">
            <a:avLst/>
          </a:prstGeom>
        </p:spPr>
        <p:txBody>
          <a:bodyPr anchor="b"/>
          <a:lstStyle/>
          <a:p>
            <a:pPr marL="228600" indent="0">
              <a:buClrTx/>
              <a:buSzTx/>
              <a:buFontTx/>
              <a:buNone/>
              <a:defRPr b="1"/>
            </a:pPr>
            <a:endParaRPr/>
          </a:p>
        </p:txBody>
      </p:sp>
      <p:sp>
        <p:nvSpPr>
          <p:cNvPr id="62" name="Google Shape;43;p6"/>
          <p:cNvSpPr txBox="1">
            <a:spLocks noGrp="1"/>
          </p:cNvSpPr>
          <p:nvPr>
            <p:ph type="body" sz="half" idx="23"/>
          </p:nvPr>
        </p:nvSpPr>
        <p:spPr>
          <a:xfrm>
            <a:off x="6193368" y="2174875"/>
            <a:ext cx="5388902" cy="3951300"/>
          </a:xfrm>
          <a:prstGeom prst="rect">
            <a:avLst/>
          </a:prstGeom>
        </p:spPr>
        <p:txBody>
          <a:bodyPr/>
          <a:lstStyle/>
          <a:p>
            <a:endParaRP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71"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72" name="Title Text"/>
          <p:cNvSpPr txBox="1">
            <a:spLocks noGrp="1"/>
          </p:cNvSpPr>
          <p:nvPr>
            <p:ph type="title"/>
          </p:nvPr>
        </p:nvSpPr>
        <p:spPr>
          <a:xfrm>
            <a:off x="3860800" y="274638"/>
            <a:ext cx="7721700" cy="487501"/>
          </a:xfrm>
          <a:prstGeom prst="rect">
            <a:avLst/>
          </a:prstGeom>
        </p:spPr>
        <p:txBody>
          <a:bodyPr/>
          <a:lstStyle>
            <a:lvl1pPr>
              <a:defRPr>
                <a:solidFill>
                  <a:srgbClr val="FF0000"/>
                </a:solidFill>
              </a:defRPr>
            </a:lvl1pPr>
          </a:lstStyle>
          <a:p>
            <a:r>
              <a:t>Title Text</a:t>
            </a:r>
          </a:p>
        </p:txBody>
      </p:sp>
      <p:pic>
        <p:nvPicPr>
          <p:cNvPr id="73" name="Google Shape;52;p7" descr="Google Shape;52;p7"/>
          <p:cNvPicPr>
            <a:picLocks noChangeAspect="1"/>
          </p:cNvPicPr>
          <p:nvPr/>
        </p:nvPicPr>
        <p:blipFill>
          <a:blip r:embed="rId3"/>
          <a:stretch>
            <a:fillRect/>
          </a:stretch>
        </p:blipFill>
        <p:spPr>
          <a:xfrm>
            <a:off x="2505208" y="139873"/>
            <a:ext cx="9686795" cy="698327"/>
          </a:xfrm>
          <a:prstGeom prst="rect">
            <a:avLst/>
          </a:prstGeom>
          <a:ln w="12700">
            <a:miter lim="400000"/>
          </a:ln>
        </p:spPr>
      </p:pic>
      <p:sp>
        <p:nvSpPr>
          <p:cNvPr id="74"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81"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82"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8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91"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92" name="Title Text"/>
          <p:cNvSpPr txBox="1">
            <a:spLocks noGrp="1"/>
          </p:cNvSpPr>
          <p:nvPr>
            <p:ph type="title"/>
          </p:nvPr>
        </p:nvSpPr>
        <p:spPr>
          <a:xfrm>
            <a:off x="609601" y="273050"/>
            <a:ext cx="4011002" cy="1162200"/>
          </a:xfrm>
          <a:prstGeom prst="rect">
            <a:avLst/>
          </a:prstGeom>
        </p:spPr>
        <p:txBody>
          <a:bodyPr anchor="b"/>
          <a:lstStyle>
            <a:lvl1pPr>
              <a:defRPr sz="2000">
                <a:solidFill>
                  <a:srgbClr val="FF0000"/>
                </a:solidFill>
              </a:defRPr>
            </a:lvl1pPr>
          </a:lstStyle>
          <a:p>
            <a:r>
              <a:t>Title Text</a:t>
            </a:r>
          </a:p>
        </p:txBody>
      </p:sp>
      <p:sp>
        <p:nvSpPr>
          <p:cNvPr id="93" name="Body Level One…"/>
          <p:cNvSpPr txBox="1">
            <a:spLocks noGrp="1"/>
          </p:cNvSpPr>
          <p:nvPr>
            <p:ph type="body" idx="1"/>
          </p:nvPr>
        </p:nvSpPr>
        <p:spPr>
          <a:xfrm>
            <a:off x="4766733" y="273053"/>
            <a:ext cx="6815701"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r>
              <a:t>Body Level One</a:t>
            </a:r>
          </a:p>
          <a:p>
            <a:pPr lvl="1"/>
            <a:r>
              <a:t>Body Level Two</a:t>
            </a:r>
          </a:p>
          <a:p>
            <a:pPr lvl="2"/>
            <a:r>
              <a:t>Body Level Three</a:t>
            </a:r>
          </a:p>
          <a:p>
            <a:pPr lvl="3"/>
            <a:r>
              <a:t>Body Level Four</a:t>
            </a:r>
          </a:p>
          <a:p>
            <a:pPr lvl="4"/>
            <a:r>
              <a:t>Body Level Five</a:t>
            </a:r>
          </a:p>
        </p:txBody>
      </p:sp>
      <p:sp>
        <p:nvSpPr>
          <p:cNvPr id="94" name="Google Shape;60;p9"/>
          <p:cNvSpPr txBox="1">
            <a:spLocks noGrp="1"/>
          </p:cNvSpPr>
          <p:nvPr>
            <p:ph type="body" sz="half" idx="21"/>
          </p:nvPr>
        </p:nvSpPr>
        <p:spPr>
          <a:xfrm>
            <a:off x="609601" y="1435103"/>
            <a:ext cx="4011002" cy="4691101"/>
          </a:xfrm>
          <a:prstGeom prst="rect">
            <a:avLst/>
          </a:prstGeom>
        </p:spPr>
        <p:txBody>
          <a:bodyPr/>
          <a:lstStyle/>
          <a:p>
            <a:pPr marL="228600" indent="0">
              <a:spcBef>
                <a:spcPts val="200"/>
              </a:spcBef>
              <a:buClrTx/>
              <a:buSzTx/>
              <a:buFontTx/>
              <a:buNone/>
              <a:defRPr sz="1400"/>
            </a:pPr>
            <a:endParaRP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103"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04" name="Title Text"/>
          <p:cNvSpPr txBox="1">
            <a:spLocks noGrp="1"/>
          </p:cNvSpPr>
          <p:nvPr>
            <p:ph type="title"/>
          </p:nvPr>
        </p:nvSpPr>
        <p:spPr>
          <a:xfrm>
            <a:off x="2389716" y="4800600"/>
            <a:ext cx="7315201" cy="566701"/>
          </a:xfrm>
          <a:prstGeom prst="rect">
            <a:avLst/>
          </a:prstGeom>
        </p:spPr>
        <p:txBody>
          <a:bodyPr anchor="b"/>
          <a:lstStyle>
            <a:lvl1pPr>
              <a:defRPr sz="2000">
                <a:solidFill>
                  <a:srgbClr val="FF0000"/>
                </a:solidFill>
              </a:defRPr>
            </a:lvl1pPr>
          </a:lstStyle>
          <a:p>
            <a:r>
              <a:t>Title Text</a:t>
            </a:r>
          </a:p>
        </p:txBody>
      </p:sp>
      <p:sp>
        <p:nvSpPr>
          <p:cNvPr id="105" name="Google Shape;66;p10"/>
          <p:cNvSpPr>
            <a:spLocks noGrp="1"/>
          </p:cNvSpPr>
          <p:nvPr>
            <p:ph type="pic" sz="half" idx="21"/>
          </p:nvPr>
        </p:nvSpPr>
        <p:spPr>
          <a:xfrm>
            <a:off x="2389716" y="612775"/>
            <a:ext cx="7315201" cy="4114800"/>
          </a:xfrm>
          <a:prstGeom prst="rect">
            <a:avLst/>
          </a:prstGeom>
        </p:spPr>
        <p:txBody>
          <a:bodyPr lIns="91439" tIns="45719" rIns="91439" bIns="45719">
            <a:noAutofit/>
          </a:bodyPr>
          <a:lstStyle/>
          <a:p>
            <a:endParaRPr dirty="0"/>
          </a:p>
        </p:txBody>
      </p:sp>
      <p:sp>
        <p:nvSpPr>
          <p:cNvPr id="106" name="Body Level One…"/>
          <p:cNvSpPr txBox="1">
            <a:spLocks noGrp="1"/>
          </p:cNvSpPr>
          <p:nvPr>
            <p:ph type="body" sz="quarter" idx="1"/>
          </p:nvPr>
        </p:nvSpPr>
        <p:spPr>
          <a:xfrm>
            <a:off x="2389716" y="5367337"/>
            <a:ext cx="7315201" cy="804901"/>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115"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16" name="Title Text"/>
          <p:cNvSpPr txBox="1">
            <a:spLocks noGrp="1"/>
          </p:cNvSpPr>
          <p:nvPr>
            <p:ph type="title"/>
          </p:nvPr>
        </p:nvSpPr>
        <p:spPr>
          <a:prstGeom prst="rect">
            <a:avLst/>
          </a:prstGeom>
        </p:spPr>
        <p:txBody>
          <a:bodyPr/>
          <a:lstStyle>
            <a:lvl1pPr>
              <a:defRPr>
                <a:solidFill>
                  <a:srgbClr val="FF0000"/>
                </a:solidFill>
              </a:defRPr>
            </a:lvl1pPr>
          </a:lstStyle>
          <a:p>
            <a:r>
              <a:t>Title Text</a:t>
            </a:r>
          </a:p>
        </p:txBody>
      </p:sp>
      <p:sp>
        <p:nvSpPr>
          <p:cNvPr id="117" name="Body Level One…"/>
          <p:cNvSpPr txBox="1">
            <a:spLocks noGrp="1"/>
          </p:cNvSpPr>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118"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126"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27" name="Title Text"/>
          <p:cNvSpPr txBox="1">
            <a:spLocks noGrp="1"/>
          </p:cNvSpPr>
          <p:nvPr>
            <p:ph type="title"/>
          </p:nvPr>
        </p:nvSpPr>
        <p:spPr>
          <a:xfrm rot="5400000">
            <a:off x="7285049" y="1828791"/>
            <a:ext cx="5851501" cy="2743201"/>
          </a:xfrm>
          <a:prstGeom prst="rect">
            <a:avLst/>
          </a:prstGeom>
        </p:spPr>
        <p:txBody>
          <a:bodyPr/>
          <a:lstStyle>
            <a:lvl1pPr>
              <a:defRPr>
                <a:solidFill>
                  <a:srgbClr val="FF0000"/>
                </a:solidFill>
              </a:defRPr>
            </a:lvl1pPr>
          </a:lstStyle>
          <a:p>
            <a:r>
              <a:t>Title Text</a:t>
            </a:r>
          </a:p>
        </p:txBody>
      </p:sp>
      <p:sp>
        <p:nvSpPr>
          <p:cNvPr id="128" name="Body Level One…"/>
          <p:cNvSpPr txBox="1">
            <a:spLocks noGrp="1"/>
          </p:cNvSpPr>
          <p:nvPr>
            <p:ph type="body" idx="1"/>
          </p:nvPr>
        </p:nvSpPr>
        <p:spPr>
          <a:xfrm rot="5400000">
            <a:off x="1696999" y="-812860"/>
            <a:ext cx="5851501"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129"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extLst>
      <p:ext uri="{BB962C8B-B14F-4D97-AF65-F5344CB8AC3E}">
        <p14:creationId xmlns:p14="http://schemas.microsoft.com/office/powerpoint/2010/main" val="3247843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oogle Shape;11;p1"/>
          <p:cNvSpPr/>
          <p:nvPr/>
        </p:nvSpPr>
        <p:spPr>
          <a:xfrm>
            <a:off x="812800" y="914400"/>
            <a:ext cx="10668000" cy="0"/>
          </a:xfrm>
          <a:prstGeom prst="line">
            <a:avLst/>
          </a:prstGeom>
          <a:ln w="57150">
            <a:solidFill>
              <a:srgbClr val="000000"/>
            </a:solidFill>
          </a:ln>
        </p:spPr>
        <p:txBody>
          <a:bodyPr lIns="45719" rIns="45719"/>
          <a:lstStyle/>
          <a:p>
            <a:endParaRPr dirty="0"/>
          </a:p>
        </p:txBody>
      </p:sp>
      <p:pic>
        <p:nvPicPr>
          <p:cNvPr id="3" name="Google Shape;12;p1" descr="Google Shape;12;p1"/>
          <p:cNvPicPr>
            <a:picLocks noChangeAspect="1"/>
          </p:cNvPicPr>
          <p:nvPr/>
        </p:nvPicPr>
        <p:blipFill>
          <a:blip r:embed="rId14"/>
          <a:srcRect b="18046"/>
          <a:stretch>
            <a:fillRect/>
          </a:stretch>
        </p:blipFill>
        <p:spPr>
          <a:xfrm>
            <a:off x="0" y="5991366"/>
            <a:ext cx="12192001" cy="866634"/>
          </a:xfrm>
          <a:prstGeom prst="rect">
            <a:avLst/>
          </a:prstGeom>
          <a:ln w="12700">
            <a:miter lim="400000"/>
          </a:ln>
        </p:spPr>
      </p:pic>
      <p:sp>
        <p:nvSpPr>
          <p:cNvPr id="4" name="Title Text"/>
          <p:cNvSpPr txBox="1">
            <a:spLocks noGrp="1"/>
          </p:cNvSpPr>
          <p:nvPr>
            <p:ph type="title"/>
          </p:nvPr>
        </p:nvSpPr>
        <p:spPr>
          <a:xfrm>
            <a:off x="812800" y="274638"/>
            <a:ext cx="10668000" cy="48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p>
            <a:r>
              <a:t>Title Text</a:t>
            </a:r>
          </a:p>
        </p:txBody>
      </p:sp>
      <p:sp>
        <p:nvSpPr>
          <p:cNvPr id="5" name="Body Level One…"/>
          <p:cNvSpPr txBox="1">
            <a:spLocks noGrp="1"/>
          </p:cNvSpPr>
          <p:nvPr>
            <p:ph type="body" idx="1"/>
          </p:nvPr>
        </p:nvSpPr>
        <p:spPr>
          <a:xfrm>
            <a:off x="812800" y="1143000"/>
            <a:ext cx="10668000" cy="495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11284625" y="6397953"/>
            <a:ext cx="297875" cy="281901"/>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fld id="{86CB4B4D-7CA3-9044-876B-883B54F8677D}"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5pPr>
      <a:lvl6pPr marL="28117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6pPr>
      <a:lvl7pPr marL="32689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iddiquealikhan/scanwise-ai-medical-triag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arxiv.org/abs/2405.17459"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683074"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AI-Powered Multi-Scan Medical Imaging and Report Interpretation System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29210"/>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CSE_115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lnSpc>
                <a:spcPct val="120000"/>
              </a:lnSpc>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lnSpc>
                <a:spcPct val="120000"/>
              </a:lnSpc>
              <a:spcBef>
                <a:spcPts val="400"/>
              </a:spcBef>
              <a:spcAft>
                <a:spcPts val="0"/>
              </a:spcAft>
              <a:buClr>
                <a:srgbClr val="17365D"/>
              </a:buClr>
              <a:buSzPts val="2000"/>
              <a:buFont typeface="Arial"/>
              <a:buNone/>
            </a:pPr>
            <a:endParaRPr sz="105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lnSpc>
                <a:spcPct val="120000"/>
              </a:lnSpc>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Praveen </a:t>
            </a: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Giridhar</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Pawaskar</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lang="en-GB"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538752999"/>
              </p:ext>
            </p:extLst>
          </p:nvPr>
        </p:nvGraphicFramePr>
        <p:xfrm>
          <a:off x="553394" y="2697460"/>
          <a:ext cx="5418675" cy="1463080"/>
        </p:xfrm>
        <a:graphic>
          <a:graphicData uri="http://schemas.openxmlformats.org/drawingml/2006/table">
            <a:tbl>
              <a:tblPr firstRow="1" bandRow="1">
                <a:tableStyleId>{5940675A-B579-460E-94D1-54222C63F5DA}</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20211CSE0242</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Zoya </a:t>
                      </a:r>
                      <a:r>
                        <a:rPr lang="en-US" sz="1800" u="none" strike="noStrike" cap="none" dirty="0" err="1"/>
                        <a:t>Alam</a:t>
                      </a:r>
                      <a:endParaRPr sz="1800" u="none" strike="noStrike" cap="none" dirty="0"/>
                    </a:p>
                  </a:txBody>
                  <a:tcPr marL="91450" marR="91450" marT="45725" marB="45725" anchor="ct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20221CSE0021</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err="1"/>
                        <a:t>Faizan</a:t>
                      </a:r>
                      <a:r>
                        <a:rPr lang="en-US" sz="1800" u="none" strike="noStrike" cap="none" dirty="0"/>
                        <a:t> Ahmed</a:t>
                      </a:r>
                      <a:endParaRPr sz="1800" u="none" strike="noStrike" cap="none" dirty="0"/>
                    </a:p>
                  </a:txBody>
                  <a:tcPr marL="91450" marR="91450" marT="45725" marB="45725" anchor="ct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20221CSE0048</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Siddique Ali Khan</a:t>
                      </a:r>
                      <a:endParaRPr sz="1800" u="none" strike="noStrike" cap="none" dirty="0"/>
                    </a:p>
                  </a:txBody>
                  <a:tcPr marL="91450" marR="91450" marT="45725" marB="45725" anchor="ctr"/>
                </a:tc>
                <a:extLst>
                  <a:ext uri="{0D108BD9-81ED-4DB2-BD59-A6C34878D82A}">
                    <a16:rowId xmlns:a16="http://schemas.microsoft.com/office/drawing/2014/main" val="10003"/>
                  </a:ext>
                </a:extLst>
              </a:tr>
            </a:tbl>
          </a:graphicData>
        </a:graphic>
      </p:graphicFrame>
      <p:sp>
        <p:nvSpPr>
          <p:cNvPr id="91" name="Google Shape;91;p13"/>
          <p:cNvSpPr txBox="1"/>
          <p:nvPr/>
        </p:nvSpPr>
        <p:spPr>
          <a:xfrm>
            <a:off x="790469" y="136441"/>
            <a:ext cx="10683074"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357353" y="4533900"/>
            <a:ext cx="8481848"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cs typeface="Verdana"/>
                <a:sym typeface="Verdana"/>
              </a:rPr>
              <a:t>Computer Science &amp;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cs typeface="Verdana"/>
                <a:sym typeface="Verdana"/>
              </a:rPr>
              <a:t>Dr. Blessed Prince</a:t>
            </a: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cs typeface="Verdana"/>
                <a:sym typeface="Verdana"/>
              </a:rPr>
              <a:t>Mr. Muthuraju V.</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SIH25131</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indent="-190500" algn="just">
              <a:lnSpc>
                <a:spcPct val="150000"/>
              </a:lnSpc>
              <a:spcBef>
                <a:spcPts val="0"/>
              </a:spcBef>
              <a:buNone/>
            </a:pPr>
            <a:r>
              <a:rPr lang="en-US" b="1" dirty="0">
                <a:latin typeface="Cambria" panose="02040503050406030204" pitchFamily="18" charset="0"/>
                <a:ea typeface="Cambria" panose="02040503050406030204" pitchFamily="18" charset="0"/>
              </a:rPr>
              <a:t>Organization: </a:t>
            </a:r>
            <a:r>
              <a:rPr lang="en-US" dirty="0">
                <a:latin typeface="Cambria" panose="02040503050406030204" pitchFamily="18" charset="0"/>
                <a:ea typeface="Cambria" panose="02040503050406030204" pitchFamily="18" charset="0"/>
              </a:rPr>
              <a:t>AICTE - MedTech / Biotech / HealthTech</a:t>
            </a:r>
          </a:p>
          <a:p>
            <a:pPr marL="342900" indent="-190500" algn="just">
              <a:lnSpc>
                <a:spcPct val="150000"/>
              </a:lnSpc>
              <a:spcBef>
                <a:spcPts val="0"/>
              </a:spcBef>
              <a:buNone/>
            </a:pPr>
            <a:r>
              <a:rPr lang="en-US" b="1" dirty="0">
                <a:latin typeface="Cambria" panose="02040503050406030204" pitchFamily="18" charset="0"/>
                <a:ea typeface="Cambria" panose="02040503050406030204" pitchFamily="18" charset="0"/>
              </a:rPr>
              <a:t>Category</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(Hardware / Software / Both) </a:t>
            </a:r>
            <a:r>
              <a:rPr lang="en-US" dirty="0">
                <a:latin typeface="Cambria" panose="02040503050406030204" pitchFamily="18" charset="0"/>
                <a:ea typeface="Cambria" panose="02040503050406030204" pitchFamily="18" charset="0"/>
              </a:rPr>
              <a:t>: Software</a:t>
            </a:r>
          </a:p>
          <a:p>
            <a:pPr marL="342900" indent="-190500" algn="just">
              <a:lnSpc>
                <a:spcPct val="150000"/>
              </a:lnSpc>
              <a:spcBef>
                <a:spcPts val="0"/>
              </a:spcBef>
              <a:buNone/>
            </a:pPr>
            <a:r>
              <a:rPr lang="en-US" b="1" dirty="0">
                <a:latin typeface="Cambria" panose="02040503050406030204" pitchFamily="18" charset="0"/>
                <a:ea typeface="Cambria" panose="02040503050406030204" pitchFamily="18" charset="0"/>
              </a:rPr>
              <a:t>Problem Description: </a:t>
            </a:r>
          </a:p>
          <a:p>
            <a:pPr marL="342900" lvl="0" indent="-190500" algn="just">
              <a:spcBef>
                <a:spcPts val="0"/>
              </a:spcBef>
              <a:buNone/>
            </a:pPr>
            <a:r>
              <a:rPr lang="en-US" dirty="0">
                <a:latin typeface="Cambria" panose="02040503050406030204" pitchFamily="18" charset="0"/>
                <a:ea typeface="Cambria" panose="02040503050406030204" pitchFamily="18" charset="0"/>
              </a:rPr>
              <a:t>   Healthcare facilities rely on medical scans and lab reports for patient care, but many centers, especially in rural and semi-urban areas, lack continuous access to radiologists, causing delays in reviewing X-rays, MRIs, ultrasounds, skin images, and lab reports, while patients receive little understandable explanation of results, making it hard to judge urgency or next steps, which leads to late diagnosis, poor triage, overcrowding of tertiary hospitals, and unequal access to basic healthcare information.</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62500" lnSpcReduction="20000"/>
          </a:bodyPr>
          <a:lstStyle/>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Background and Related Work</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Innovation or Novel Contributions</a:t>
            </a:r>
            <a:endParaRPr lang="en-US" sz="32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Design of Cyber-Security Enabled Smart Controller for Grid-Connected Microgrid"/>
          <p:cNvSpPr txBox="1">
            <a:spLocks noGrp="1"/>
          </p:cNvSpPr>
          <p:nvPr>
            <p:ph type="title"/>
          </p:nvPr>
        </p:nvSpPr>
        <p:spPr>
          <a:prstGeom prst="rect">
            <a:avLst/>
          </a:prstGeom>
        </p:spPr>
        <p:txBody>
          <a:bodyPr>
            <a:normAutofit/>
          </a:bodyPr>
          <a:lstStyle>
            <a:lvl1pPr defTabSz="594359">
              <a:defRPr sz="1819"/>
            </a:lvl1pPr>
          </a:lstStyle>
          <a:p>
            <a:r>
              <a:rPr lang="en-IN" sz="2400" dirty="0">
                <a:latin typeface="Cambria" panose="02040503050406030204" pitchFamily="18" charset="0"/>
              </a:rPr>
              <a:t>Analysis of Problem Statement </a:t>
            </a:r>
            <a:endParaRPr sz="2400" dirty="0">
              <a:latin typeface="Cambria" panose="02040503050406030204" pitchFamily="18" charset="0"/>
            </a:endParaRPr>
          </a:p>
        </p:txBody>
      </p:sp>
      <p:sp>
        <p:nvSpPr>
          <p:cNvPr id="152" name="Problem Statement Cyber-attacks such as False Data Injection (FDI), Denial of Service (DoS), and Man-in-the-Middle (MITM) pose serious risks to microgrid stability and security. Existing solutions often focus only on simulations or individual techniques "/>
          <p:cNvSpPr txBox="1">
            <a:spLocks noGrp="1"/>
          </p:cNvSpPr>
          <p:nvPr>
            <p:ph type="body" idx="1"/>
          </p:nvPr>
        </p:nvSpPr>
        <p:spPr>
          <a:xfrm>
            <a:off x="812800" y="990670"/>
            <a:ext cx="10668000" cy="4953001"/>
          </a:xfrm>
          <a:prstGeom prst="rect">
            <a:avLst/>
          </a:prstGeom>
        </p:spPr>
        <p:txBody>
          <a:bodyPr>
            <a:normAutofit/>
          </a:bodyPr>
          <a:lstStyle/>
          <a:p>
            <a:pPr marL="0" indent="0" defTabSz="457200">
              <a:spcBef>
                <a:spcPts val="1200"/>
              </a:spcBef>
              <a:buClrTx/>
              <a:buSzTx/>
              <a:buFontTx/>
              <a:buNone/>
              <a:defRPr sz="2000">
                <a:latin typeface="Times Roman"/>
                <a:ea typeface="Times Roman"/>
                <a:cs typeface="Times Roman"/>
                <a:sym typeface="Times Roman"/>
              </a:defRPr>
            </a:pPr>
            <a:endParaRPr lang="en-US" sz="100" b="1" dirty="0"/>
          </a:p>
          <a:p>
            <a:pPr marL="0" indent="0" defTabSz="457200">
              <a:spcBef>
                <a:spcPts val="1200"/>
              </a:spcBef>
              <a:buClrTx/>
              <a:buSzTx/>
              <a:buFontTx/>
              <a:buNone/>
              <a:defRPr sz="2000">
                <a:latin typeface="Times Roman"/>
                <a:ea typeface="Times Roman"/>
                <a:cs typeface="Times Roman"/>
                <a:sym typeface="Times Roman"/>
              </a:defRPr>
            </a:pPr>
            <a:r>
              <a:rPr b="1" dirty="0"/>
              <a:t>Problem Statement</a:t>
            </a:r>
            <a:r>
              <a:rPr lang="en-US" b="1" dirty="0"/>
              <a:t>:</a:t>
            </a:r>
            <a:br>
              <a:rPr dirty="0"/>
            </a:br>
            <a:r>
              <a:rPr lang="en-IN" dirty="0"/>
              <a:t>Many healthcare </a:t>
            </a:r>
            <a:r>
              <a:rPr lang="en-IN" dirty="0" err="1"/>
              <a:t>centers</a:t>
            </a:r>
            <a:r>
              <a:rPr lang="en-IN" dirty="0"/>
              <a:t>, especially in rural and semi-urban areas, lack round-the-clock access to radiologists, causing delays in interpreting medical scans and lab reports, low patient understanding of results, weak triage, late diagnosis, and overcrowding of higher-level hospitals.</a:t>
            </a:r>
          </a:p>
          <a:p>
            <a:pPr marL="0" indent="0" defTabSz="457200">
              <a:spcBef>
                <a:spcPts val="1200"/>
              </a:spcBef>
              <a:buClrTx/>
              <a:buSzTx/>
              <a:buFontTx/>
              <a:buNone/>
              <a:defRPr sz="2000" b="1">
                <a:latin typeface="Times Roman"/>
                <a:ea typeface="Times Roman"/>
                <a:cs typeface="Times Roman"/>
                <a:sym typeface="Times Roman"/>
              </a:defRPr>
            </a:pPr>
            <a:r>
              <a:rPr lang="en-IN" dirty="0"/>
              <a:t>Objectives</a:t>
            </a:r>
            <a:endParaRPr lang="en-IN" b="0" dirty="0"/>
          </a:p>
          <a:p>
            <a:pPr indent="-317500" defTabSz="457200">
              <a:spcBef>
                <a:spcPts val="1200"/>
              </a:spcBef>
              <a:buClrTx/>
              <a:buSzPct val="100000"/>
              <a:buFont typeface="Times Roman"/>
              <a:defRPr sz="2000">
                <a:latin typeface="Times Roman"/>
                <a:ea typeface="Times Roman"/>
                <a:cs typeface="Times Roman"/>
                <a:sym typeface="Times Roman"/>
              </a:defRPr>
            </a:pPr>
            <a:r>
              <a:rPr lang="en-IN" dirty="0"/>
              <a:t>Develop a cloud-based system to support interpretation of multiple medical scan types and lab reports.</a:t>
            </a:r>
          </a:p>
          <a:p>
            <a:pPr indent="-317500" defTabSz="457200">
              <a:spcBef>
                <a:spcPts val="1200"/>
              </a:spcBef>
              <a:buClrTx/>
              <a:buSzPct val="100000"/>
              <a:buFont typeface="Times Roman"/>
              <a:defRPr sz="2000">
                <a:latin typeface="Times Roman"/>
                <a:ea typeface="Times Roman"/>
                <a:cs typeface="Times Roman"/>
                <a:sym typeface="Times Roman"/>
              </a:defRPr>
            </a:pPr>
            <a:r>
              <a:rPr lang="en-IN" dirty="0"/>
              <a:t>Provide non-diagnostic, patient-friendly explanations of scan findings.</a:t>
            </a:r>
          </a:p>
          <a:p>
            <a:pPr indent="-317500" defTabSz="457200">
              <a:spcBef>
                <a:spcPts val="1200"/>
              </a:spcBef>
              <a:buClrTx/>
              <a:buSzPct val="100000"/>
              <a:buFont typeface="Times Roman"/>
              <a:defRPr sz="2000">
                <a:latin typeface="Times Roman"/>
                <a:ea typeface="Times Roman"/>
                <a:cs typeface="Times Roman"/>
                <a:sym typeface="Times Roman"/>
              </a:defRPr>
            </a:pPr>
            <a:r>
              <a:rPr lang="en-IN" dirty="0"/>
              <a:t>Classify cases into urgency levels to support triage.</a:t>
            </a:r>
          </a:p>
          <a:p>
            <a:pPr indent="-317500" defTabSz="457200">
              <a:spcBef>
                <a:spcPts val="1200"/>
              </a:spcBef>
              <a:buClrTx/>
              <a:buSzPct val="100000"/>
              <a:buFont typeface="Times Roman"/>
              <a:defRPr sz="2000">
                <a:latin typeface="Times Roman"/>
                <a:ea typeface="Times Roman"/>
                <a:cs typeface="Times Roman"/>
                <a:sym typeface="Times Roman"/>
              </a:defRPr>
            </a:pPr>
            <a:r>
              <a:rPr lang="en-IN" dirty="0"/>
              <a:t>Enable secure storage and controlled access to medical data.</a:t>
            </a:r>
          </a:p>
          <a:p>
            <a:pPr indent="-317500" defTabSz="457200">
              <a:spcBef>
                <a:spcPts val="1200"/>
              </a:spcBef>
              <a:buClrTx/>
              <a:buSzPct val="100000"/>
              <a:buFont typeface="Times Roman"/>
              <a:defRPr sz="2000">
                <a:latin typeface="Times Roman"/>
                <a:ea typeface="Times Roman"/>
                <a:cs typeface="Times Roman"/>
                <a:sym typeface="Times Roman"/>
              </a:defRPr>
            </a:pPr>
            <a:r>
              <a:rPr lang="en-IN" dirty="0"/>
              <a:t>Integrate hospital location support for patient referral.</a:t>
            </a:r>
            <a:endParaRPr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chnology Stack Components:"/>
          <p:cNvSpPr txBox="1">
            <a:spLocks noGrp="1"/>
          </p:cNvSpPr>
          <p:nvPr>
            <p:ph type="body" idx="1"/>
          </p:nvPr>
        </p:nvSpPr>
        <p:spPr>
          <a:xfrm>
            <a:off x="812800" y="990670"/>
            <a:ext cx="10668000" cy="4953001"/>
          </a:xfrm>
          <a:prstGeom prst="rect">
            <a:avLst/>
          </a:prstGeom>
        </p:spPr>
        <p:txBody>
          <a:bodyPr/>
          <a:lstStyle/>
          <a:p>
            <a:pPr marL="0" indent="0" defTabSz="457200">
              <a:spcBef>
                <a:spcPts val="0"/>
              </a:spcBef>
              <a:buClrTx/>
              <a:buSzTx/>
              <a:buFontTx/>
              <a:buNone/>
              <a:defRPr sz="1900" b="1">
                <a:latin typeface="Times Roman"/>
                <a:ea typeface="Times Roman"/>
                <a:cs typeface="Times Roman"/>
                <a:sym typeface="Times Roman"/>
              </a:defRPr>
            </a:pPr>
            <a:r>
              <a:rPr dirty="0"/>
              <a:t>Technology Stack Components:</a:t>
            </a:r>
          </a:p>
          <a:p>
            <a:pPr marL="0" indent="0" defTabSz="457200">
              <a:spcBef>
                <a:spcPts val="0"/>
              </a:spcBef>
              <a:buClrTx/>
              <a:buSzTx/>
              <a:buFontTx/>
              <a:buNone/>
              <a:defRPr sz="1900" b="1">
                <a:latin typeface="Times Roman"/>
                <a:ea typeface="Times Roman"/>
                <a:cs typeface="Times Roman"/>
                <a:sym typeface="Times Roman"/>
              </a:defRPr>
            </a:pPr>
            <a:endParaRPr dirty="0"/>
          </a:p>
          <a:p>
            <a:pPr marL="0" indent="0" defTabSz="457200">
              <a:spcBef>
                <a:spcPts val="0"/>
              </a:spcBef>
              <a:buClrTx/>
              <a:buSzTx/>
              <a:buFontTx/>
              <a:buNone/>
              <a:defRPr sz="1500" b="1">
                <a:latin typeface="Times Roman"/>
                <a:ea typeface="Times Roman"/>
                <a:cs typeface="Times Roman"/>
                <a:sym typeface="Times Roman"/>
              </a:defRPr>
            </a:pPr>
            <a:br>
              <a:rPr dirty="0"/>
            </a:br>
            <a:endParaRPr dirty="0"/>
          </a:p>
        </p:txBody>
      </p:sp>
      <p:sp>
        <p:nvSpPr>
          <p:cNvPr id="158" name="Design of Cyber-Security Enabled Smart Controller for Grid-Connected Microgrid"/>
          <p:cNvSpPr txBox="1"/>
          <p:nvPr/>
        </p:nvSpPr>
        <p:spPr>
          <a:xfrm>
            <a:off x="812800" y="357576"/>
            <a:ext cx="10668001" cy="48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defTabSz="594359">
              <a:defRPr sz="1819" b="1">
                <a:solidFill>
                  <a:srgbClr val="17365D"/>
                </a:solidFill>
                <a:latin typeface="Verdana"/>
                <a:ea typeface="Verdana"/>
                <a:cs typeface="Verdana"/>
                <a:sym typeface="Verdana"/>
              </a:defRPr>
            </a:lvl1pPr>
          </a:lstStyle>
          <a:p>
            <a:r>
              <a:rPr lang="en-IN" sz="2400" dirty="0">
                <a:latin typeface="Cambria" panose="02040503050406030204" pitchFamily="18" charset="0"/>
              </a:rPr>
              <a:t>Analysis of Problem Statement </a:t>
            </a:r>
            <a:endParaRPr sz="2400" dirty="0">
              <a:latin typeface="Cambria" panose="02040503050406030204" pitchFamily="18" charset="0"/>
            </a:endParaRPr>
          </a:p>
        </p:txBody>
      </p:sp>
      <p:graphicFrame>
        <p:nvGraphicFramePr>
          <p:cNvPr id="3" name="Table 2">
            <a:extLst>
              <a:ext uri="{FF2B5EF4-FFF2-40B4-BE49-F238E27FC236}">
                <a16:creationId xmlns:a16="http://schemas.microsoft.com/office/drawing/2014/main" id="{F3D0E6CE-7873-4D72-9E65-5BF267A89315}"/>
              </a:ext>
            </a:extLst>
          </p:cNvPr>
          <p:cNvGraphicFramePr>
            <a:graphicFrameLocks noGrp="1"/>
          </p:cNvGraphicFramePr>
          <p:nvPr>
            <p:extLst>
              <p:ext uri="{D42A27DB-BD31-4B8C-83A1-F6EECF244321}">
                <p14:modId xmlns:p14="http://schemas.microsoft.com/office/powerpoint/2010/main" val="3775293526"/>
              </p:ext>
            </p:extLst>
          </p:nvPr>
        </p:nvGraphicFramePr>
        <p:xfrm>
          <a:off x="3494314" y="1810968"/>
          <a:ext cx="5304972" cy="3664544"/>
        </p:xfrm>
        <a:graphic>
          <a:graphicData uri="http://schemas.openxmlformats.org/drawingml/2006/table">
            <a:tbl>
              <a:tblPr firstRow="1" bandRow="1">
                <a:tableStyleId>{7E9639D4-E3E2-4D34-9284-5A2195B3D0D7}</a:tableStyleId>
              </a:tblPr>
              <a:tblGrid>
                <a:gridCol w="2652486">
                  <a:extLst>
                    <a:ext uri="{9D8B030D-6E8A-4147-A177-3AD203B41FA5}">
                      <a16:colId xmlns:a16="http://schemas.microsoft.com/office/drawing/2014/main" val="254975588"/>
                    </a:ext>
                  </a:extLst>
                </a:gridCol>
                <a:gridCol w="2652486">
                  <a:extLst>
                    <a:ext uri="{9D8B030D-6E8A-4147-A177-3AD203B41FA5}">
                      <a16:colId xmlns:a16="http://schemas.microsoft.com/office/drawing/2014/main" val="3044872114"/>
                    </a:ext>
                  </a:extLst>
                </a:gridCol>
              </a:tblGrid>
              <a:tr h="697155">
                <a:tc>
                  <a:txBody>
                    <a:bodyPr/>
                    <a:lstStyle/>
                    <a:p>
                      <a:pPr algn="ctr"/>
                      <a:r>
                        <a:rPr lang="en-US" b="1" dirty="0"/>
                        <a:t>Component</a:t>
                      </a:r>
                    </a:p>
                  </a:txBody>
                  <a:tcPr anchor="ctr"/>
                </a:tc>
                <a:tc>
                  <a:txBody>
                    <a:bodyPr/>
                    <a:lstStyle/>
                    <a:p>
                      <a:pPr algn="ctr"/>
                      <a:r>
                        <a:rPr lang="en-US" b="1" dirty="0"/>
                        <a:t>Technology</a:t>
                      </a:r>
                    </a:p>
                  </a:txBody>
                  <a:tcPr anchor="ctr"/>
                </a:tc>
                <a:extLst>
                  <a:ext uri="{0D108BD9-81ED-4DB2-BD59-A6C34878D82A}">
                    <a16:rowId xmlns:a16="http://schemas.microsoft.com/office/drawing/2014/main" val="2553240060"/>
                  </a:ext>
                </a:extLst>
              </a:tr>
              <a:tr h="410264">
                <a:tc>
                  <a:txBody>
                    <a:bodyPr/>
                    <a:lstStyle/>
                    <a:p>
                      <a:pPr algn="ctr"/>
                      <a:r>
                        <a:rPr lang="en-IN" dirty="0"/>
                        <a:t>Frontend</a:t>
                      </a:r>
                    </a:p>
                  </a:txBody>
                  <a:tcPr anchor="ctr"/>
                </a:tc>
                <a:tc>
                  <a:txBody>
                    <a:bodyPr/>
                    <a:lstStyle/>
                    <a:p>
                      <a:pPr algn="ctr"/>
                      <a:r>
                        <a:rPr lang="en-IN" dirty="0"/>
                        <a:t>React + TypeScript</a:t>
                      </a:r>
                    </a:p>
                  </a:txBody>
                  <a:tcPr anchor="ctr"/>
                </a:tc>
                <a:extLst>
                  <a:ext uri="{0D108BD9-81ED-4DB2-BD59-A6C34878D82A}">
                    <a16:rowId xmlns:a16="http://schemas.microsoft.com/office/drawing/2014/main" val="2687970034"/>
                  </a:ext>
                </a:extLst>
              </a:tr>
              <a:tr h="505805">
                <a:tc>
                  <a:txBody>
                    <a:bodyPr/>
                    <a:lstStyle/>
                    <a:p>
                      <a:pPr algn="ctr"/>
                      <a:r>
                        <a:rPr lang="en-IN" dirty="0"/>
                        <a:t>Backend</a:t>
                      </a:r>
                    </a:p>
                  </a:txBody>
                  <a:tcPr anchor="ctr"/>
                </a:tc>
                <a:tc>
                  <a:txBody>
                    <a:bodyPr/>
                    <a:lstStyle/>
                    <a:p>
                      <a:pPr algn="ctr"/>
                      <a:r>
                        <a:rPr lang="en-US" dirty="0"/>
                        <a:t>Node.js + TypeScript</a:t>
                      </a:r>
                    </a:p>
                  </a:txBody>
                  <a:tcPr anchor="ctr"/>
                </a:tc>
                <a:extLst>
                  <a:ext uri="{0D108BD9-81ED-4DB2-BD59-A6C34878D82A}">
                    <a16:rowId xmlns:a16="http://schemas.microsoft.com/office/drawing/2014/main" val="759086970"/>
                  </a:ext>
                </a:extLst>
              </a:tr>
              <a:tr h="410264">
                <a:tc>
                  <a:txBody>
                    <a:bodyPr/>
                    <a:lstStyle/>
                    <a:p>
                      <a:pPr algn="ctr"/>
                      <a:r>
                        <a:rPr lang="en-US" dirty="0"/>
                        <a:t>AI Engine</a:t>
                      </a:r>
                    </a:p>
                  </a:txBody>
                  <a:tcPr anchor="ctr"/>
                </a:tc>
                <a:tc>
                  <a:txBody>
                    <a:bodyPr/>
                    <a:lstStyle/>
                    <a:p>
                      <a:pPr algn="ctr"/>
                      <a:r>
                        <a:rPr lang="en-IN" dirty="0"/>
                        <a:t>Gemini (Vision + LLM)</a:t>
                      </a:r>
                    </a:p>
                  </a:txBody>
                  <a:tcPr anchor="ctr"/>
                </a:tc>
                <a:extLst>
                  <a:ext uri="{0D108BD9-81ED-4DB2-BD59-A6C34878D82A}">
                    <a16:rowId xmlns:a16="http://schemas.microsoft.com/office/drawing/2014/main" val="3117959012"/>
                  </a:ext>
                </a:extLst>
              </a:tr>
              <a:tr h="410264">
                <a:tc>
                  <a:txBody>
                    <a:bodyPr/>
                    <a:lstStyle/>
                    <a:p>
                      <a:pPr algn="ctr"/>
                      <a:r>
                        <a:rPr lang="en-IN" sz="1200" b="0" u="none" strike="noStrike" cap="none" spc="0" baseline="0" dirty="0">
                          <a:solidFill>
                            <a:schemeClr val="tx1"/>
                          </a:solidFill>
                          <a:effectLst/>
                          <a:uFillTx/>
                          <a:sym typeface="Verdana"/>
                        </a:rPr>
                        <a:t>Database</a:t>
                      </a:r>
                      <a:endParaRPr lang="en-US" dirty="0"/>
                    </a:p>
                  </a:txBody>
                  <a:tcPr anchor="ctr"/>
                </a:tc>
                <a:tc>
                  <a:txBody>
                    <a:bodyPr/>
                    <a:lstStyle/>
                    <a:p>
                      <a:pPr algn="ctr"/>
                      <a:r>
                        <a:rPr lang="en-IN" sz="1200" b="0" u="none" strike="noStrike" cap="none" spc="0" baseline="0" dirty="0">
                          <a:solidFill>
                            <a:schemeClr val="tx1"/>
                          </a:solidFill>
                          <a:effectLst/>
                          <a:uFillTx/>
                          <a:sym typeface="Verdana"/>
                        </a:rPr>
                        <a:t>Firestore</a:t>
                      </a:r>
                      <a:endParaRPr lang="en-US" dirty="0"/>
                    </a:p>
                  </a:txBody>
                  <a:tcPr anchor="ctr"/>
                </a:tc>
                <a:extLst>
                  <a:ext uri="{0D108BD9-81ED-4DB2-BD59-A6C34878D82A}">
                    <a16:rowId xmlns:a16="http://schemas.microsoft.com/office/drawing/2014/main" val="467563614"/>
                  </a:ext>
                </a:extLst>
              </a:tr>
              <a:tr h="410264">
                <a:tc>
                  <a:txBody>
                    <a:bodyPr/>
                    <a:lstStyle/>
                    <a:p>
                      <a:pPr algn="ctr"/>
                      <a:r>
                        <a:rPr lang="en-US" dirty="0"/>
                        <a:t>File Storage</a:t>
                      </a:r>
                    </a:p>
                  </a:txBody>
                  <a:tcPr anchor="ctr"/>
                </a:tc>
                <a:tc>
                  <a:txBody>
                    <a:bodyPr/>
                    <a:lstStyle/>
                    <a:p>
                      <a:pPr algn="ctr"/>
                      <a:r>
                        <a:rPr lang="en-US" dirty="0"/>
                        <a:t>Firebase Auth</a:t>
                      </a:r>
                    </a:p>
                  </a:txBody>
                  <a:tcPr anchor="ctr"/>
                </a:tc>
                <a:extLst>
                  <a:ext uri="{0D108BD9-81ED-4DB2-BD59-A6C34878D82A}">
                    <a16:rowId xmlns:a16="http://schemas.microsoft.com/office/drawing/2014/main" val="3975737543"/>
                  </a:ext>
                </a:extLst>
              </a:tr>
              <a:tr h="410264">
                <a:tc>
                  <a:txBody>
                    <a:bodyPr/>
                    <a:lstStyle/>
                    <a:p>
                      <a:pPr algn="ctr"/>
                      <a:r>
                        <a:rPr lang="en-IN" sz="1200" b="0" u="none" strike="noStrike" cap="none" spc="0" baseline="0" dirty="0">
                          <a:solidFill>
                            <a:schemeClr val="tx1"/>
                          </a:solidFill>
                          <a:effectLst/>
                          <a:uFillTx/>
                          <a:sym typeface="Verdana"/>
                        </a:rPr>
                        <a:t>Authentication</a:t>
                      </a:r>
                      <a:endParaRPr lang="en-US" dirty="0"/>
                    </a:p>
                  </a:txBody>
                  <a:tcPr anchor="ctr"/>
                </a:tc>
                <a:tc>
                  <a:txBody>
                    <a:bodyPr/>
                    <a:lstStyle/>
                    <a:p>
                      <a:pPr algn="ctr"/>
                      <a:r>
                        <a:rPr lang="en-US" dirty="0"/>
                        <a:t>Firebase Auth</a:t>
                      </a:r>
                    </a:p>
                  </a:txBody>
                  <a:tcPr anchor="ctr"/>
                </a:tc>
                <a:extLst>
                  <a:ext uri="{0D108BD9-81ED-4DB2-BD59-A6C34878D82A}">
                    <a16:rowId xmlns:a16="http://schemas.microsoft.com/office/drawing/2014/main" val="3257769644"/>
                  </a:ext>
                </a:extLst>
              </a:tr>
              <a:tr h="410264">
                <a:tc>
                  <a:txBody>
                    <a:bodyPr/>
                    <a:lstStyle/>
                    <a:p>
                      <a:pPr algn="ctr"/>
                      <a:r>
                        <a:rPr lang="en-IN" sz="1200" b="0" u="none" strike="noStrike" cap="none" spc="0" baseline="0" dirty="0">
                          <a:solidFill>
                            <a:schemeClr val="tx1"/>
                          </a:solidFill>
                          <a:effectLst/>
                          <a:uFillTx/>
                          <a:sym typeface="Verdana"/>
                        </a:rPr>
                        <a:t>Maps</a:t>
                      </a:r>
                      <a:endParaRPr lang="en-US" dirty="0"/>
                    </a:p>
                  </a:txBody>
                  <a:tcPr anchor="ctr"/>
                </a:tc>
                <a:tc>
                  <a:txBody>
                    <a:bodyPr/>
                    <a:lstStyle/>
                    <a:p>
                      <a:pPr algn="ctr"/>
                      <a:r>
                        <a:rPr lang="en-IN" dirty="0"/>
                        <a:t>Google Maps API</a:t>
                      </a:r>
                    </a:p>
                  </a:txBody>
                  <a:tcPr anchor="ctr"/>
                </a:tc>
                <a:extLst>
                  <a:ext uri="{0D108BD9-81ED-4DB2-BD59-A6C34878D82A}">
                    <a16:rowId xmlns:a16="http://schemas.microsoft.com/office/drawing/2014/main" val="1983674247"/>
                  </a:ext>
                </a:extLst>
              </a:tr>
            </a:tbl>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Background and Related Work:"/>
          <p:cNvSpPr txBox="1">
            <a:spLocks noGrp="1"/>
          </p:cNvSpPr>
          <p:nvPr>
            <p:ph type="title"/>
          </p:nvPr>
        </p:nvSpPr>
        <p:spPr>
          <a:prstGeom prst="rect">
            <a:avLst/>
          </a:prstGeom>
        </p:spPr>
        <p:txBody>
          <a:bodyPr>
            <a:normAutofit/>
          </a:bodyPr>
          <a:lstStyle>
            <a:lvl1pPr>
              <a:defRPr sz="2100"/>
            </a:lvl1pPr>
          </a:lstStyle>
          <a:p>
            <a:r>
              <a:rPr lang="en-IN" sz="2400" dirty="0">
                <a:latin typeface="Cambria" panose="02040503050406030204" pitchFamily="18" charset="0"/>
              </a:rPr>
              <a:t>Background and Related Work:</a:t>
            </a:r>
            <a:endParaRPr sz="2400" dirty="0">
              <a:latin typeface="Cambria" panose="02040503050406030204" pitchFamily="18" charset="0"/>
            </a:endParaRPr>
          </a:p>
        </p:txBody>
      </p:sp>
      <p:sp>
        <p:nvSpPr>
          <p:cNvPr id="155" name="Existing Research…"/>
          <p:cNvSpPr txBox="1">
            <a:spLocks noGrp="1"/>
          </p:cNvSpPr>
          <p:nvPr>
            <p:ph type="body" idx="1"/>
          </p:nvPr>
        </p:nvSpPr>
        <p:spPr>
          <a:xfrm>
            <a:off x="812800" y="990670"/>
            <a:ext cx="10668000" cy="5290387"/>
          </a:xfrm>
          <a:prstGeom prst="rect">
            <a:avLst/>
          </a:prstGeom>
        </p:spPr>
        <p:txBody>
          <a:bodyPr>
            <a:normAutofit/>
          </a:bodyPr>
          <a:lstStyle/>
          <a:p>
            <a:pPr marL="0" indent="0" defTabSz="457200">
              <a:spcBef>
                <a:spcPts val="1200"/>
              </a:spcBef>
              <a:buClrTx/>
              <a:buSzTx/>
              <a:buFontTx/>
              <a:buNone/>
              <a:defRPr sz="1500" b="1">
                <a:latin typeface="Times Roman"/>
                <a:ea typeface="Times Roman"/>
                <a:cs typeface="Times Roman"/>
                <a:sym typeface="Times Roman"/>
              </a:defRPr>
            </a:pPr>
            <a:r>
              <a:rPr sz="2000" dirty="0"/>
              <a:t>Existing Research</a:t>
            </a:r>
            <a:endParaRPr sz="2000" b="0" dirty="0"/>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AI models generate radiology reports from X-ray, MRI, and CT images.</a:t>
            </a:r>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Vision-language models convert scans into readable medical text.</a:t>
            </a:r>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Most systems focus on report generation accuracy, not on what happens after the report.</a:t>
            </a:r>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Many studies are limited to research settings and not built as full user platforms.</a:t>
            </a:r>
            <a:endParaRPr sz="2000" dirty="0"/>
          </a:p>
          <a:p>
            <a:pPr marL="0" indent="0" defTabSz="457200">
              <a:spcBef>
                <a:spcPts val="1200"/>
              </a:spcBef>
              <a:buClrTx/>
              <a:buSzTx/>
              <a:buFontTx/>
              <a:buNone/>
              <a:defRPr sz="1500" b="1">
                <a:latin typeface="Times Roman"/>
                <a:ea typeface="Times Roman"/>
                <a:cs typeface="Times Roman"/>
                <a:sym typeface="Times Roman"/>
              </a:defRPr>
            </a:pPr>
            <a:r>
              <a:rPr sz="2000" dirty="0"/>
              <a:t>Limitations Found</a:t>
            </a:r>
            <a:endParaRPr sz="2000" b="0" dirty="0"/>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Existing systems stop at report generation and do not help with urgency or triage.</a:t>
            </a:r>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Reports are written in technical language and are hard for patients to understand.</a:t>
            </a:r>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No clear support for guiding patients on what to do next.</a:t>
            </a:r>
          </a:p>
          <a:p>
            <a:pPr indent="-317500" defTabSz="457200">
              <a:spcBef>
                <a:spcPts val="1200"/>
              </a:spcBef>
              <a:buClrTx/>
              <a:buSzPct val="100000"/>
              <a:buFont typeface="Times Roman"/>
              <a:defRPr sz="1500">
                <a:latin typeface="Times Roman"/>
                <a:ea typeface="Times Roman"/>
                <a:cs typeface="Times Roman"/>
                <a:sym typeface="Times Roman"/>
              </a:defRPr>
            </a:pPr>
            <a:r>
              <a:rPr lang="en-IN" sz="2000" dirty="0"/>
              <a:t>Poor integration with hospital workflow and patient access.</a:t>
            </a:r>
            <a:endParaRPr sz="2000" dirty="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Novelty Integration of ECC encryption, blockchain logging, and hybrid anomaly detection in a single software platform, validated through realistic Linux-based cyber-attacks.…"/>
          <p:cNvSpPr txBox="1">
            <a:spLocks noGrp="1"/>
          </p:cNvSpPr>
          <p:nvPr>
            <p:ph type="body" idx="1"/>
          </p:nvPr>
        </p:nvSpPr>
        <p:spPr>
          <a:xfrm>
            <a:off x="812800" y="990670"/>
            <a:ext cx="10668000" cy="5029130"/>
          </a:xfrm>
          <a:prstGeom prst="rect">
            <a:avLst/>
          </a:prstGeom>
        </p:spPr>
        <p:txBody>
          <a:bodyPr>
            <a:normAutofit lnSpcReduction="10000"/>
          </a:bodyPr>
          <a:lstStyle/>
          <a:p>
            <a:pPr marL="0" indent="0" defTabSz="370331">
              <a:spcBef>
                <a:spcPts val="900"/>
              </a:spcBef>
              <a:buClrTx/>
              <a:buSzTx/>
              <a:buFontTx/>
              <a:buNone/>
              <a:defRPr sz="1862">
                <a:latin typeface="Times Roman"/>
                <a:ea typeface="Times Roman"/>
                <a:cs typeface="Times Roman"/>
                <a:sym typeface="Times Roman"/>
              </a:defRPr>
            </a:pPr>
            <a:r>
              <a:rPr b="1" dirty="0"/>
              <a:t>Novelty</a:t>
            </a:r>
            <a:br>
              <a:rPr dirty="0"/>
            </a:br>
            <a:r>
              <a:rPr lang="en-IN" dirty="0" err="1"/>
              <a:t>ScanWise</a:t>
            </a:r>
            <a:r>
              <a:rPr lang="en-IN" dirty="0"/>
              <a:t> extends AI-based report generation by adding triage intelligence, patient-friendly explanation, and next-step guidance in a single cloud-based software platform.</a:t>
            </a:r>
            <a:endParaRPr dirty="0"/>
          </a:p>
          <a:p>
            <a:pPr marL="0" indent="0" defTabSz="370331">
              <a:spcBef>
                <a:spcPts val="900"/>
              </a:spcBef>
              <a:buClrTx/>
              <a:buSzTx/>
              <a:buFontTx/>
              <a:buNone/>
              <a:defRPr sz="1862" b="1">
                <a:latin typeface="Times Roman"/>
                <a:ea typeface="Times Roman"/>
                <a:cs typeface="Times Roman"/>
                <a:sym typeface="Times Roman"/>
              </a:defRPr>
            </a:pPr>
            <a:r>
              <a:rPr dirty="0"/>
              <a:t>Key Contributions</a:t>
            </a:r>
            <a:endParaRPr b="0" dirty="0"/>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Converts AI scan analysis into urgency levels (Emergency / Priority / Routine).</a:t>
            </a:r>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Generates simple, non-diagnostic explanations for patients.</a:t>
            </a:r>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Provides next-step guidance instead of only raw reports.</a:t>
            </a:r>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Supports multiple scan types in one system.</a:t>
            </a:r>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Works as a software-only, cloud-based solution.</a:t>
            </a:r>
          </a:p>
          <a:p>
            <a:pPr marL="0" indent="0" defTabSz="370331">
              <a:spcBef>
                <a:spcPts val="900"/>
              </a:spcBef>
              <a:buClrTx/>
              <a:buSzTx/>
              <a:buFontTx/>
              <a:buNone/>
              <a:defRPr sz="1862" b="1">
                <a:latin typeface="Times Roman"/>
                <a:ea typeface="Times Roman"/>
                <a:cs typeface="Times Roman"/>
                <a:sym typeface="Times Roman"/>
              </a:defRPr>
            </a:pPr>
            <a:r>
              <a:rPr lang="en-IN" dirty="0"/>
              <a:t>Why Innovative?</a:t>
            </a:r>
            <a:endParaRPr lang="en-IN" b="0" dirty="0"/>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Moves beyond report generation to decision support.</a:t>
            </a:r>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Focuses on action, not just text.</a:t>
            </a:r>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Designed for high-load hospitals and rural clinics.</a:t>
            </a:r>
          </a:p>
          <a:p>
            <a:pPr marL="370331" indent="-257175" defTabSz="370331">
              <a:spcBef>
                <a:spcPts val="900"/>
              </a:spcBef>
              <a:buClrTx/>
              <a:buSzPct val="100000"/>
              <a:buFont typeface="Times Roman"/>
              <a:defRPr sz="1862">
                <a:latin typeface="Times Roman"/>
                <a:ea typeface="Times Roman"/>
                <a:cs typeface="Times Roman"/>
                <a:sym typeface="Times Roman"/>
              </a:defRPr>
            </a:pPr>
            <a:r>
              <a:rPr lang="en-IN" dirty="0"/>
              <a:t>Bridges the gap between AI output and real-world use.</a:t>
            </a:r>
          </a:p>
        </p:txBody>
      </p:sp>
      <p:sp>
        <p:nvSpPr>
          <p:cNvPr id="162" name="Innovation / Novel Contributions:"/>
          <p:cNvSpPr txBox="1"/>
          <p:nvPr/>
        </p:nvSpPr>
        <p:spPr>
          <a:xfrm>
            <a:off x="812800" y="357576"/>
            <a:ext cx="10668001" cy="48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defTabSz="850391">
              <a:defRPr sz="2604" b="1">
                <a:solidFill>
                  <a:srgbClr val="17365D"/>
                </a:solidFill>
                <a:latin typeface="Verdana"/>
                <a:ea typeface="Verdana"/>
                <a:cs typeface="Verdana"/>
                <a:sym typeface="Verdana"/>
              </a:defRPr>
            </a:lvl1pPr>
          </a:lstStyle>
          <a:p>
            <a:r>
              <a:rPr sz="2400" dirty="0">
                <a:latin typeface="Cambria" panose="02040503050406030204" pitchFamily="18" charset="0"/>
              </a:rPr>
              <a:t>Innovation / Novel Contributions: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Google Shape;114;p17"/>
          <p:cNvSpPr txBox="1">
            <a:spLocks noGrp="1"/>
          </p:cNvSpPr>
          <p:nvPr>
            <p:ph type="title"/>
          </p:nvPr>
        </p:nvSpPr>
        <p:spPr>
          <a:prstGeom prst="rect">
            <a:avLst/>
          </a:prstGeom>
        </p:spPr>
        <p:txBody>
          <a:bodyPr>
            <a:normAutofit fontScale="90000"/>
          </a:bodyPr>
          <a:lstStyle>
            <a:lvl1pPr indent="144779" defTabSz="868680">
              <a:lnSpc>
                <a:spcPct val="200000"/>
              </a:lnSpc>
              <a:defRPr sz="2660">
                <a:latin typeface="Cambria"/>
                <a:ea typeface="Cambria"/>
                <a:cs typeface="Cambria"/>
                <a:sym typeface="Cambria"/>
              </a:defRPr>
            </a:lvl1pPr>
          </a:lstStyle>
          <a:p>
            <a:r>
              <a:rPr dirty="0"/>
              <a:t>GitHub Link</a:t>
            </a:r>
          </a:p>
        </p:txBody>
      </p:sp>
      <p:sp>
        <p:nvSpPr>
          <p:cNvPr id="168" name="Google Shape;115;p17"/>
          <p:cNvSpPr txBox="1">
            <a:spLocks noGrp="1"/>
          </p:cNvSpPr>
          <p:nvPr>
            <p:ph type="body" idx="1"/>
          </p:nvPr>
        </p:nvSpPr>
        <p:spPr>
          <a:xfrm>
            <a:off x="812800" y="1143000"/>
            <a:ext cx="10668000" cy="4953000"/>
          </a:xfrm>
          <a:prstGeom prst="rect">
            <a:avLst/>
          </a:prstGeom>
        </p:spPr>
        <p:txBody>
          <a:bodyPr/>
          <a:lstStyle/>
          <a:p>
            <a:pPr marL="0" indent="0" defTabSz="457200">
              <a:spcBef>
                <a:spcPts val="0"/>
              </a:spcBef>
              <a:buClrTx/>
              <a:buSzTx/>
              <a:buFontTx/>
              <a:buNone/>
              <a:defRPr sz="1900">
                <a:latin typeface="Times Roman"/>
                <a:ea typeface="Times Roman"/>
                <a:cs typeface="Times Roman"/>
                <a:sym typeface="Times Roman"/>
              </a:defRPr>
            </a:pPr>
            <a:r>
              <a:rPr b="1" dirty="0"/>
              <a:t>Repository Name:</a:t>
            </a:r>
            <a:r>
              <a:rPr lang="en-IN" dirty="0"/>
              <a:t> </a:t>
            </a:r>
            <a:r>
              <a:rPr lang="en-IN" dirty="0" err="1"/>
              <a:t>scanwise</a:t>
            </a:r>
            <a:r>
              <a:rPr lang="en-IN" dirty="0"/>
              <a:t>-ai-medical-triage </a:t>
            </a:r>
          </a:p>
          <a:p>
            <a:pPr marL="0" indent="0" defTabSz="457200">
              <a:spcBef>
                <a:spcPts val="0"/>
              </a:spcBef>
              <a:buClrTx/>
              <a:buSzTx/>
              <a:buFontTx/>
              <a:buNone/>
              <a:defRPr sz="1900">
                <a:latin typeface="Times Roman"/>
                <a:ea typeface="Times Roman"/>
                <a:cs typeface="Times Roman"/>
                <a:sym typeface="Times Roman"/>
              </a:defRPr>
            </a:pPr>
            <a:r>
              <a:rPr b="1" dirty="0">
                <a:latin typeface="Times Roman"/>
                <a:ea typeface="Times Roman"/>
                <a:cs typeface="Times Roman"/>
                <a:sym typeface="Times Roman"/>
              </a:rPr>
              <a:t>Public Link:</a:t>
            </a:r>
            <a:r>
              <a:rPr lang="en-US" b="1" dirty="0">
                <a:latin typeface="Times Roman"/>
                <a:ea typeface="Times Roman"/>
                <a:cs typeface="Times Roman"/>
                <a:sym typeface="Times Roman"/>
              </a:rPr>
              <a:t> </a:t>
            </a:r>
            <a:r>
              <a:rPr lang="en-US" dirty="0">
                <a:latin typeface="Times Roman"/>
                <a:ea typeface="Times Roman"/>
                <a:cs typeface="Times Roman"/>
                <a:sym typeface="Times Roman"/>
                <a:hlinkClick r:id="rId3"/>
              </a:rPr>
              <a:t>https://github.com/siddiquealikhan/scanwise-ai-medical-triage</a:t>
            </a:r>
            <a:r>
              <a:rPr lang="en-US" dirty="0">
                <a:latin typeface="Times Roman"/>
                <a:ea typeface="Times Roman"/>
                <a:cs typeface="Times Roman"/>
                <a:sym typeface="Times Roman"/>
              </a:rPr>
              <a:t> </a:t>
            </a:r>
            <a:endParaRPr dirty="0"/>
          </a:p>
        </p:txBody>
      </p:sp>
      <p:sp>
        <p:nvSpPr>
          <p:cNvPr id="169" name="Google Shape;115;p17"/>
          <p:cNvSpPr txBox="1"/>
          <p:nvPr/>
        </p:nvSpPr>
        <p:spPr>
          <a:xfrm>
            <a:off x="1699761" y="2908411"/>
            <a:ext cx="10576550" cy="4178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pPr marL="190500" indent="-38100" algn="just">
              <a:defRPr sz="2400">
                <a:latin typeface="Cambria"/>
                <a:ea typeface="Cambria"/>
                <a:cs typeface="Cambria"/>
                <a:sym typeface="Cambria"/>
              </a:defRPr>
            </a:pPr>
            <a:endParaRPr dirty="0"/>
          </a:p>
          <a:p>
            <a:pPr marL="190500" indent="-38100" algn="just">
              <a:lnSpc>
                <a:spcPct val="200000"/>
              </a:lnSpc>
              <a:defRPr sz="2400">
                <a:latin typeface="Cambria"/>
                <a:ea typeface="Cambria"/>
                <a:cs typeface="Cambria"/>
                <a:sym typeface="Cambria"/>
              </a:defRPr>
            </a:pPr>
            <a:endParaRPr dirty="0"/>
          </a:p>
          <a:p>
            <a:pPr marL="190500" indent="-38100" algn="just">
              <a:lnSpc>
                <a:spcPct val="200000"/>
              </a:lnSpc>
              <a:defRPr sz="2400">
                <a:latin typeface="Cambria"/>
                <a:ea typeface="Cambria"/>
                <a:cs typeface="Cambria"/>
                <a:sym typeface="Cambria"/>
              </a:defRPr>
            </a:pPr>
            <a:endParaRPr dirty="0"/>
          </a:p>
        </p:txBody>
      </p:sp>
      <p:pic>
        <p:nvPicPr>
          <p:cNvPr id="3" name="Picture 2">
            <a:extLst>
              <a:ext uri="{FF2B5EF4-FFF2-40B4-BE49-F238E27FC236}">
                <a16:creationId xmlns:a16="http://schemas.microsoft.com/office/drawing/2014/main" id="{78D97CFE-EE23-7151-E7FC-D122ECE35D38}"/>
              </a:ext>
            </a:extLst>
          </p:cNvPr>
          <p:cNvPicPr>
            <a:picLocks noChangeAspect="1"/>
          </p:cNvPicPr>
          <p:nvPr/>
        </p:nvPicPr>
        <p:blipFill rotWithShape="1">
          <a:blip r:embed="rId4"/>
          <a:srcRect t="11537"/>
          <a:stretch/>
        </p:blipFill>
        <p:spPr>
          <a:xfrm>
            <a:off x="1699761" y="1872343"/>
            <a:ext cx="7139439" cy="4107385"/>
          </a:xfrm>
          <a:prstGeom prst="rect">
            <a:avLst/>
          </a:prstGeom>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Google Shape;114;p17"/>
          <p:cNvSpPr txBox="1">
            <a:spLocks noGrp="1"/>
          </p:cNvSpPr>
          <p:nvPr>
            <p:ph type="title"/>
          </p:nvPr>
        </p:nvSpPr>
        <p:spPr>
          <a:prstGeom prst="rect">
            <a:avLst/>
          </a:prstGeom>
        </p:spPr>
        <p:txBody>
          <a:bodyPr>
            <a:normAutofit fontScale="90000"/>
          </a:bodyPr>
          <a:lstStyle>
            <a:lvl1pPr defTabSz="868680">
              <a:defRPr sz="2660">
                <a:latin typeface="Cambria"/>
                <a:ea typeface="Cambria"/>
                <a:cs typeface="Cambria"/>
                <a:sym typeface="Cambria"/>
              </a:defRPr>
            </a:lvl1pPr>
          </a:lstStyle>
          <a:p>
            <a:r>
              <a:rPr dirty="0"/>
              <a:t>Timeline of the Project (Gantt Chart)</a:t>
            </a:r>
          </a:p>
        </p:txBody>
      </p:sp>
      <p:pic>
        <p:nvPicPr>
          <p:cNvPr id="4" name="Picture 3">
            <a:extLst>
              <a:ext uri="{FF2B5EF4-FFF2-40B4-BE49-F238E27FC236}">
                <a16:creationId xmlns:a16="http://schemas.microsoft.com/office/drawing/2014/main" id="{42B1EB0A-652B-6AAF-924C-3ECBEA9A7FD2}"/>
              </a:ext>
            </a:extLst>
          </p:cNvPr>
          <p:cNvPicPr>
            <a:picLocks noChangeAspect="1"/>
          </p:cNvPicPr>
          <p:nvPr/>
        </p:nvPicPr>
        <p:blipFill>
          <a:blip r:embed="rId3"/>
          <a:stretch>
            <a:fillRect/>
          </a:stretch>
        </p:blipFill>
        <p:spPr>
          <a:xfrm>
            <a:off x="464457" y="998264"/>
            <a:ext cx="11016343" cy="5293679"/>
          </a:xfrm>
          <a:prstGeom prst="rect">
            <a:avLst/>
          </a:prstGeom>
        </p:spPr>
      </p:pic>
    </p:spTree>
    <p:extLst>
      <p:ext uri="{BB962C8B-B14F-4D97-AF65-F5344CB8AC3E}">
        <p14:creationId xmlns:p14="http://schemas.microsoft.com/office/powerpoint/2010/main" val="200203559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Google Shape;144;p22"/>
          <p:cNvSpPr txBox="1">
            <a:spLocks noGrp="1"/>
          </p:cNvSpPr>
          <p:nvPr>
            <p:ph type="title"/>
          </p:nvPr>
        </p:nvSpPr>
        <p:spPr>
          <a:xfrm>
            <a:off x="718012" y="-578447"/>
            <a:ext cx="10102565" cy="2338998"/>
          </a:xfrm>
          <a:prstGeom prst="rect">
            <a:avLst/>
          </a:prstGeom>
        </p:spPr>
        <p:txBody>
          <a:bodyPr>
            <a:normAutofit/>
          </a:bodyPr>
          <a:lstStyle/>
          <a:p>
            <a:r>
              <a:rPr sz="2400" dirty="0">
                <a:latin typeface="Cambria"/>
                <a:sym typeface="Cambria"/>
              </a:rPr>
              <a:t>References (IEEE format)</a:t>
            </a:r>
          </a:p>
        </p:txBody>
      </p:sp>
      <p:sp>
        <p:nvSpPr>
          <p:cNvPr id="175" name="Google Shape;145;p22"/>
          <p:cNvSpPr txBox="1">
            <a:spLocks noGrp="1"/>
          </p:cNvSpPr>
          <p:nvPr>
            <p:ph type="body" idx="1"/>
          </p:nvPr>
        </p:nvSpPr>
        <p:spPr>
          <a:xfrm>
            <a:off x="762000" y="990670"/>
            <a:ext cx="10668000" cy="4953001"/>
          </a:xfrm>
          <a:prstGeom prst="rect">
            <a:avLst/>
          </a:prstGeom>
        </p:spPr>
        <p:txBody>
          <a:bodyPr>
            <a:normAutofit fontScale="70000" lnSpcReduction="20000"/>
          </a:bodyPr>
          <a:lstStyle/>
          <a:p>
            <a:pPr marL="0" indent="0" defTabSz="457200">
              <a:spcBef>
                <a:spcPts val="0"/>
              </a:spcBef>
              <a:buClrTx/>
              <a:buSzTx/>
              <a:buFontTx/>
              <a:buNone/>
              <a:defRPr>
                <a:latin typeface="Times Roman"/>
                <a:ea typeface="Times Roman"/>
                <a:cs typeface="Times Roman"/>
                <a:sym typeface="Times Roman"/>
              </a:defRPr>
            </a:pPr>
            <a:r>
              <a:rPr lang="en-IN" sz="3200" dirty="0"/>
              <a:t>[1] J. O. Lee, H. Y. Zhou, T. M. </a:t>
            </a:r>
            <a:r>
              <a:rPr lang="en-IN" sz="3200" dirty="0" err="1"/>
              <a:t>Berzin</a:t>
            </a:r>
            <a:r>
              <a:rPr lang="en-IN" sz="3200" dirty="0"/>
              <a:t>, D. K. </a:t>
            </a:r>
            <a:r>
              <a:rPr lang="en-IN" sz="3200" dirty="0" err="1"/>
              <a:t>Sodickson</a:t>
            </a:r>
            <a:r>
              <a:rPr lang="en-IN" sz="3200" dirty="0"/>
              <a:t>, and P. </a:t>
            </a:r>
            <a:r>
              <a:rPr lang="en-IN" sz="3200" dirty="0" err="1"/>
              <a:t>Rajpurkar</a:t>
            </a:r>
            <a:r>
              <a:rPr lang="en-IN" sz="3200" dirty="0"/>
              <a:t>, “Multimodal generative AI for interpreting 3D medical images and videos,” NPJ Digital Medicine, vol. 8, no. 1, p. 273, May 2025, </a:t>
            </a:r>
            <a:r>
              <a:rPr lang="en-IN" sz="3200" dirty="0" err="1"/>
              <a:t>doi</a:t>
            </a:r>
            <a:r>
              <a:rPr lang="en-IN" sz="3200" dirty="0"/>
              <a:t>: 10.1038/s41746-025-01649-4.</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[2] A. Hosseini, A. Ibrahim, and A. </a:t>
            </a:r>
            <a:r>
              <a:rPr lang="en-IN" sz="3200" dirty="0" err="1"/>
              <a:t>Serag</a:t>
            </a:r>
            <a:r>
              <a:rPr lang="en-IN" sz="3200" dirty="0"/>
              <a:t>, “M3: Multimodal artificial intelligence for medical report generation and visual question answering from 3D abdominal CT scans,” BJR | Artificial Intelligence, vol. 2, no. 1, Jan. 2025, Art. no. ubaf011, </a:t>
            </a:r>
            <a:r>
              <a:rPr lang="en-IN" sz="3200" dirty="0" err="1"/>
              <a:t>doi</a:t>
            </a:r>
            <a:r>
              <a:rPr lang="en-IN" sz="3200" dirty="0"/>
              <a:t>: 10.1093/</a:t>
            </a:r>
            <a:r>
              <a:rPr lang="en-IN" sz="3200" dirty="0" err="1"/>
              <a:t>bjrai</a:t>
            </a:r>
            <a:r>
              <a:rPr lang="en-IN" sz="3200" dirty="0"/>
              <a:t>/ubaf011.</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[3] Z. Yao, F. Lin, S. Chai, W. He, L. Dai, and X. Fei, “Integrating medical imaging and clinical reports using multimodal deep learning for advanced disease analysis,” arXiv:2405.17459, 2024. Available: </a:t>
            </a:r>
            <a:r>
              <a:rPr lang="en-IN" sz="3200" dirty="0">
                <a:hlinkClick r:id="rId2"/>
              </a:rPr>
              <a:t>https://arxiv.org/abs/2405.17459</a:t>
            </a:r>
            <a:endParaRPr lang="en-IN" sz="3200" dirty="0"/>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[4] D. Mamdouh, M. Attia, M. Osama, N. Mohamed, A. </a:t>
            </a:r>
            <a:r>
              <a:rPr lang="en-IN" sz="3200" dirty="0" err="1"/>
              <a:t>Lotfy</a:t>
            </a:r>
            <a:r>
              <a:rPr lang="en-IN" sz="3200" dirty="0"/>
              <a:t>, T. Arafa, E. A. Rashed, and G. </a:t>
            </a:r>
            <a:r>
              <a:rPr lang="en-IN" sz="3200" dirty="0" err="1"/>
              <a:t>Khoriba</a:t>
            </a:r>
            <a:r>
              <a:rPr lang="en-IN" sz="3200" dirty="0"/>
              <a:t>, “Advancements in radiology report generation: A comprehensive analysis,” Bioengineering, vol. 12, no. 7, p. 693, Jun. 2025, </a:t>
            </a:r>
            <a:r>
              <a:rPr lang="en-IN" sz="3200" dirty="0" err="1"/>
              <a:t>doi</a:t>
            </a:r>
            <a:r>
              <a:rPr lang="en-IN" sz="3200" dirty="0"/>
              <a:t>: 10.3390/bioengineering12070693.</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[5] P. </a:t>
            </a:r>
            <a:r>
              <a:rPr lang="en-IN" sz="3200" dirty="0" err="1"/>
              <a:t>Rajpurkar</a:t>
            </a:r>
            <a:r>
              <a:rPr lang="en-IN" sz="3200" dirty="0"/>
              <a:t> et al., “</a:t>
            </a:r>
            <a:r>
              <a:rPr lang="en-IN" sz="3200" dirty="0" err="1"/>
              <a:t>CheXNet</a:t>
            </a:r>
            <a:r>
              <a:rPr lang="en-IN" sz="3200" dirty="0"/>
              <a:t>: Radiologist-Level Pneumonia Detection on Chest X-Rays with Deep Learning,” </a:t>
            </a:r>
            <a:r>
              <a:rPr lang="en-IN" sz="3200" dirty="0" err="1"/>
              <a:t>arXiv</a:t>
            </a:r>
            <a:r>
              <a:rPr lang="en-IN" sz="3200" dirty="0"/>
              <a:t> preprint arXiv:1711.05225, 2017.</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endParaRPr sz="3200"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Google Shape;144;p22"/>
          <p:cNvSpPr txBox="1">
            <a:spLocks noGrp="1"/>
          </p:cNvSpPr>
          <p:nvPr>
            <p:ph type="title"/>
          </p:nvPr>
        </p:nvSpPr>
        <p:spPr>
          <a:xfrm>
            <a:off x="718012" y="-578447"/>
            <a:ext cx="10102565" cy="2338998"/>
          </a:xfrm>
          <a:prstGeom prst="rect">
            <a:avLst/>
          </a:prstGeom>
        </p:spPr>
        <p:txBody>
          <a:bodyPr>
            <a:normAutofit/>
          </a:bodyPr>
          <a:lstStyle/>
          <a:p>
            <a:r>
              <a:rPr sz="2400" dirty="0">
                <a:latin typeface="Cambria"/>
                <a:sym typeface="Cambria"/>
              </a:rPr>
              <a:t>References (IEEE format)</a:t>
            </a:r>
          </a:p>
        </p:txBody>
      </p:sp>
      <p:sp>
        <p:nvSpPr>
          <p:cNvPr id="175" name="Google Shape;145;p22"/>
          <p:cNvSpPr txBox="1">
            <a:spLocks noGrp="1"/>
          </p:cNvSpPr>
          <p:nvPr>
            <p:ph type="body" idx="1"/>
          </p:nvPr>
        </p:nvSpPr>
        <p:spPr>
          <a:xfrm>
            <a:off x="762000" y="990670"/>
            <a:ext cx="10668000" cy="4953001"/>
          </a:xfrm>
          <a:prstGeom prst="rect">
            <a:avLst/>
          </a:prstGeom>
        </p:spPr>
        <p:txBody>
          <a:bodyPr>
            <a:normAutofit fontScale="77500" lnSpcReduction="20000"/>
          </a:bodyPr>
          <a:lstStyle/>
          <a:p>
            <a:pPr marL="0" indent="0" defTabSz="457200">
              <a:spcBef>
                <a:spcPts val="0"/>
              </a:spcBef>
              <a:buClrTx/>
              <a:buSzTx/>
              <a:buFontTx/>
              <a:buNone/>
              <a:defRPr>
                <a:latin typeface="Times Roman"/>
                <a:ea typeface="Times Roman"/>
                <a:cs typeface="Times Roman"/>
                <a:sym typeface="Times Roman"/>
              </a:defRPr>
            </a:pPr>
            <a:r>
              <a:rPr lang="en-IN" sz="3200" dirty="0"/>
              <a:t>[6] A. </a:t>
            </a:r>
            <a:r>
              <a:rPr lang="en-IN" sz="3200" dirty="0" err="1"/>
              <a:t>Esteva</a:t>
            </a:r>
            <a:r>
              <a:rPr lang="en-IN" sz="3200" dirty="0"/>
              <a:t> et al., “Dermatologist-Level Classification of Skin Cancer with Deep Neural Networks,” Nature, vol. 542, no. 7639, pp. 115–118, Jan. 2017.</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[7] G. </a:t>
            </a:r>
            <a:r>
              <a:rPr lang="en-IN" sz="3200" dirty="0" err="1"/>
              <a:t>Litjens</a:t>
            </a:r>
            <a:r>
              <a:rPr lang="en-IN" sz="3200" dirty="0"/>
              <a:t> et al., “A Survey on Deep Learning in Medical Image Analysis,” Medical Image Analysis, vol. 42, pp. 60–88, Dec. 2017.</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[8] J. D. </a:t>
            </a:r>
            <a:r>
              <a:rPr lang="en-IN" sz="3200" dirty="0" err="1"/>
              <a:t>Zech</a:t>
            </a:r>
            <a:r>
              <a:rPr lang="en-IN" sz="3200" dirty="0"/>
              <a:t> et al., “Variable Generalization Performance of a Deep Learning Model to Detect Pneumonia in Chest Radiographs,” </a:t>
            </a:r>
            <a:r>
              <a:rPr lang="en-IN" sz="3200" dirty="0" err="1"/>
              <a:t>PLoS</a:t>
            </a:r>
            <a:r>
              <a:rPr lang="en-IN" sz="3200" dirty="0"/>
              <a:t> Medicine, vol. 15, no. 11, Nov. 2018.</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[9] World Health Organization, “Ethics and Governance of Artificial Intelligence for Health,” WHO Press, Geneva, Switzerland, 2021.</a:t>
            </a:r>
          </a:p>
          <a:p>
            <a:pPr marL="0" indent="0" defTabSz="457200">
              <a:spcBef>
                <a:spcPts val="0"/>
              </a:spcBef>
              <a:buClrTx/>
              <a:buSzTx/>
              <a:buFontTx/>
              <a:buNone/>
              <a:defRPr>
                <a:latin typeface="Times Roman"/>
                <a:ea typeface="Times Roman"/>
                <a:cs typeface="Times Roman"/>
                <a:sym typeface="Times Roman"/>
              </a:defRPr>
            </a:pPr>
            <a:endParaRPr lang="en-IN" sz="3200" dirty="0"/>
          </a:p>
          <a:p>
            <a:pPr marL="0" indent="0" defTabSz="457200">
              <a:spcBef>
                <a:spcPts val="0"/>
              </a:spcBef>
              <a:buClrTx/>
              <a:buSzTx/>
              <a:buFontTx/>
              <a:buNone/>
              <a:defRPr>
                <a:latin typeface="Times Roman"/>
                <a:ea typeface="Times Roman"/>
                <a:cs typeface="Times Roman"/>
                <a:sym typeface="Times Roman"/>
              </a:defRPr>
            </a:pPr>
            <a:r>
              <a:rPr lang="en-IN" sz="3200" dirty="0"/>
              <a:t>[10] E. J. </a:t>
            </a:r>
            <a:r>
              <a:rPr lang="en-IN" sz="3200" dirty="0" err="1"/>
              <a:t>Topol</a:t>
            </a:r>
            <a:r>
              <a:rPr lang="en-IN" sz="3200" dirty="0"/>
              <a:t>, “High-Performance Medicine: The Convergence of Human and Artificial Intelligence,” Nature Medicine, vol. 25, no. 1, pp. 44–56, Jan. 2019.</a:t>
            </a:r>
            <a:endParaRPr sz="3200" dirty="0"/>
          </a:p>
        </p:txBody>
      </p:sp>
    </p:spTree>
    <p:extLst>
      <p:ext uri="{BB962C8B-B14F-4D97-AF65-F5344CB8AC3E}">
        <p14:creationId xmlns:p14="http://schemas.microsoft.com/office/powerpoint/2010/main" val="4419191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E41B07-8EA7-C06F-664D-4DE8B16366E3}"/>
              </a:ext>
            </a:extLst>
          </p:cNvPr>
          <p:cNvPicPr>
            <a:picLocks noChangeAspect="1"/>
          </p:cNvPicPr>
          <p:nvPr/>
        </p:nvPicPr>
        <p:blipFill>
          <a:blip r:embed="rId2"/>
          <a:stretch>
            <a:fillRect/>
          </a:stretch>
        </p:blipFill>
        <p:spPr>
          <a:xfrm>
            <a:off x="-1" y="-1"/>
            <a:ext cx="12322629" cy="6899791"/>
          </a:xfrm>
          <a:prstGeom prst="rect">
            <a:avLst/>
          </a:prstGeom>
        </p:spPr>
      </p:pic>
    </p:spTree>
  </p:cSld>
  <p:clrMapOvr>
    <a:masterClrMapping/>
  </p:clrMapOvr>
  <p:transition spd="med"/>
</p:sld>
</file>

<file path=ppt/theme/theme1.xml><?xml version="1.0" encoding="utf-8"?>
<a:theme xmlns:a="http://schemas.openxmlformats.org/drawingml/2006/main"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1065</TotalTime>
  <Words>1140</Words>
  <Application>Microsoft Macintosh PowerPoint</Application>
  <PresentationFormat>Widescreen</PresentationFormat>
  <Paragraphs>118</Paragraphs>
  <Slides>12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Cambria</vt:lpstr>
      <vt:lpstr>Times New Roman</vt:lpstr>
      <vt:lpstr>Times Roman</vt:lpstr>
      <vt:lpstr>Verdana</vt:lpstr>
      <vt:lpstr>Wingdings</vt:lpstr>
      <vt:lpstr>Bioinformatics</vt:lpstr>
      <vt:lpstr>AI-Powered Multi-Scan Medical Imaging and Report Interpretation System</vt:lpstr>
      <vt:lpstr>Problem Statement Number: SIH25131</vt:lpstr>
      <vt:lpstr>Content</vt:lpstr>
      <vt:lpstr>Analysis of Problem Statement </vt:lpstr>
      <vt:lpstr>PowerPoint Presentation</vt:lpstr>
      <vt:lpstr>Background and Related Work:</vt:lpstr>
      <vt:lpstr>PowerPoint Presentation</vt:lpstr>
      <vt:lpstr>GitHub Link</vt:lpstr>
      <vt:lpstr>Timeline of the Project (Gantt Chart)</vt:lpstr>
      <vt:lpstr>References (IEEE format)</vt:lpstr>
      <vt:lpstr>References (IEEE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CYBER-SECURITY ENABLED SMART CONTROLLER for grid-connected Microgrid</dc:title>
  <cp:lastModifiedBy>Siddique Ali Khan</cp:lastModifiedBy>
  <cp:revision>8</cp:revision>
  <dcterms:modified xsi:type="dcterms:W3CDTF">2026-01-11T22:32:45Z</dcterms:modified>
</cp:coreProperties>
</file>